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2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사용자 수</c:v>
                </c:pt>
              </c:strCache>
            </c:strRef>
          </c:tx>
          <c:spPr>
            <a:solidFill>
              <a:srgbClr val="00E696"/>
            </a:solidFill>
          </c:spPr>
          <c:dPt>
            <c:idx val="0"/>
            <c:spPr>
              <a:solidFill>
                <a:srgbClr val="00D2FF"/>
              </a:solidFill>
            </c:spPr>
          </c:dPt>
          <c:dPt>
            <c:idx val="1"/>
            <c:spPr>
              <a:solidFill>
                <a:srgbClr val="7B2FF7"/>
              </a:solidFill>
            </c:spPr>
          </c:dPt>
          <c:dPt>
            <c:idx val="2"/>
            <c:spPr>
              <a:solidFill>
                <a:srgbClr val="00E696"/>
              </a:solidFill>
            </c:spPr>
          </c:dPt>
          <c:dPt>
            <c:idx val="3"/>
            <c:spPr>
              <a:solidFill>
                <a:srgbClr val="FF6B35"/>
              </a:solidFill>
            </c:spPr>
          </c:dPt>
          <c:dPt>
            <c:idx val="4"/>
            <c:spPr>
              <a:solidFill>
                <a:srgbClr val="FF3585"/>
              </a:solidFill>
            </c:spPr>
          </c:dPt>
          <c:cat>
            <c:strRef>
              <c:f>Sheet1!$A$2:$A$6</c:f>
              <c:strCache>
                <c:ptCount val="5"/>
                <c:pt idx="0">
                  <c:v>Acquisition
(획득)</c:v>
                </c:pt>
                <c:pt idx="1">
                  <c:v>Activation
(활성화)</c:v>
                </c:pt>
                <c:pt idx="2">
                  <c:v>Retention
(유지)</c:v>
                </c:pt>
                <c:pt idx="3">
                  <c:v>Revenue
(수익)</c:v>
                </c:pt>
                <c:pt idx="4">
                  <c:v>Referral
(추천)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1000</c:v>
                </c:pt>
                <c:pt idx="1">
                  <c:v>600</c:v>
                </c:pt>
                <c:pt idx="2">
                  <c:v>350</c:v>
                </c:pt>
                <c:pt idx="3">
                  <c:v>200</c:v>
                </c:pt>
                <c:pt idx="4">
                  <c:v>120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B8B8CC"/>
                </a:solidFill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solidFill>
                  <a:srgbClr val="70708C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[타이틀 슬라이드]</a:t>
            </a:r>
          </a:p>
          <a:p>
            <a:r>
              <a:t>- 수강생 맞이 및 간단한 자기소개</a:t>
            </a:r>
          </a:p>
          <a:p>
            <a:r>
              <a:t>- 과정 전체 구조를 간략히 안내</a:t>
            </a:r>
          </a:p>
          <a:p>
            <a:r>
              <a:t>- "이 과정이 끝나면 GTM 전략을 직접 설계하고, 면접에서 어필할 수 있는 사람이 됩니다"</a:t>
            </a:r>
          </a:p>
          <a:p>
            <a:r>
              <a:t>- 노트북과 Google 계정 준비 확인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[과정 목표]</a:t>
            </a:r>
          </a:p>
          <a:p>
            <a:r>
              <a:t>각 목표를 순서대로 읽으며 설명</a:t>
            </a:r>
          </a:p>
          <a:p>
            <a:r>
              <a:t>- 01~04: GTM 전략 수립의 핵심 역량</a:t>
            </a:r>
          </a:p>
          <a:p>
            <a:r>
              <a:t>- 05: AI 활용 능력 (Gemini 무료 버전 기준)</a:t>
            </a:r>
          </a:p>
          <a:p>
            <a:r>
              <a:t>- 06: 이 모든 역량을 취업에 연결하는 법</a:t>
            </a:r>
          </a:p>
          <a:p>
            <a:r>
              <a:t>"6번이 가장 중요합니다. 배운 것을 어필할 수 있어야 의미가 있습니다."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[5일 로드맵]</a:t>
            </a:r>
          </a:p>
          <a:p>
            <a:r>
              <a:t>전체 구조를 한눈에 보여주며 각 Day의 흐름을 설명</a:t>
            </a:r>
          </a:p>
          <a:p>
            <a:r>
              <a:t>- Day 1-4: 순차적으로 GTM 전략의 각 요소를 학습</a:t>
            </a:r>
          </a:p>
          <a:p>
            <a:r>
              <a:t>- Day 5: 종합 + 취업 연결</a:t>
            </a:r>
          </a:p>
          <a:p>
            <a:r>
              <a:t>"각 Day의 마지막 교시는 실습/데모 시간입니다. 이론만 듣는 게 아니라 직접 해보는 시간이 있습니다."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[Day 1 타이틀]</a:t>
            </a:r>
          </a:p>
          <a:p>
            <a:r>
              <a:t>- 아이스브레이킹: "여러분이 좋아하는 앱 하나를 떠올려보세요. 그 앱이 세상에 나오기까지 어떤 과정이 있었을까요?"</a:t>
            </a:r>
          </a:p>
          <a:p>
            <a:r>
              <a:t>- 수강생 2-3명 간단 발표</a:t>
            </a:r>
          </a:p>
          <a:p>
            <a:r>
              <a:t>- "우리가 쓰는 서비스도 아이디어 → 검증 → 개발 → 출시 → 성장의 과정을 거칩니다"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[프로덕트 라이프사이클]</a:t>
            </a:r>
          </a:p>
          <a:p>
            <a:r>
              <a:t>각 단계별로 실제 서비스 사례를 들어 설명</a:t>
            </a:r>
          </a:p>
          <a:p>
            <a:r>
              <a:t>- 도입기: 시장에 처음 진입하는 단계. 인지도가 낮고 사용자 확보가 핵심</a:t>
            </a:r>
          </a:p>
          <a:p>
            <a:r>
              <a:t>- 성장기: 사용자가 빠르게 증가. 시장 점유율 확대와 수익 모델 안정화</a:t>
            </a:r>
          </a:p>
          <a:p>
            <a:r>
              <a:t>- 성숙기: 성장이 둔화되고 경쟁이 심화. 차별화와 효율화가 핵심</a:t>
            </a:r>
          </a:p>
          <a:p>
            <a:r>
              <a:t>- 쇠퇴기: 대체 서비스 등장으로 이탈 발생. 피벗 또는 종료 결정 필요</a:t>
            </a:r>
          </a:p>
          <a:p/>
          <a:p>
            <a:r>
              <a:t>"GTM은 주로 도입기와 성장기 초반에 가장 중요합니다. 하지만 성숙기에 새 기능/시장으로 확장할 때도 GTM이 필요합니다."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[GTM 정의]</a:t>
            </a:r>
          </a:p>
          <a:p>
            <a:r>
              <a:t>"GTM은 Go-To-Market의 줄임말입니다. 한마디로, 만든 제품을 어떻게 시장에 내놓고 고객에게 전달할 것인가에 대한 종합 전략입니다."</a:t>
            </a:r>
          </a:p>
          <a:p/>
          <a:p>
            <a:r>
              <a:t>핵심 강조: GTM ≠ 마케팅</a:t>
            </a:r>
          </a:p>
          <a:p>
            <a:r>
              <a:t>- 마케팅은 GTM의 일부입니다. 광고, SNS 운영 등은 GTM 전략의 '실행 도구'</a:t>
            </a:r>
          </a:p>
          <a:p>
            <a:r>
              <a:t>- GTM은 타겟 정의부터 메시징, 채널, 성과 측정까지 전체를 아우르는 상위 개념</a:t>
            </a:r>
          </a:p>
          <a:p/>
          <a:p>
            <a:r>
              <a:t>5대 구성 요소를 하나씩 짚으며 "이것이 5일 과정의 각 Day와 매핑됩니다"</a:t>
            </a:r>
          </a:p>
          <a:p>
            <a:r>
              <a:t>- Who(Day 2), What(Day 3), Where(Day 4), How to communicate(Day 3), How to measure(Day 4)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[실패 vs 성공 GTM]</a:t>
            </a:r>
          </a:p>
          <a:p>
            <a:r>
              <a:t>도입 질문: "좋은 제품인데 망한 경우를 본 적 있나요? 왜 망했을까요?"</a:t>
            </a:r>
          </a:p>
          <a:p>
            <a:r>
              <a:t>핵심 메시지: "좋은 제품 ≠ 성공. GTM이 잘못되면 아무리 좋은 제품도 실패합니다."</a:t>
            </a:r>
          </a:p>
          <a:p/>
          <a:p>
            <a:r>
              <a:t>실패 패턴을 먼저 보여주고, 그 반대로 성공 원리를 설명</a:t>
            </a:r>
          </a:p>
          <a:p>
            <a:r>
              <a:t>- 직관 vs 가설 검증의 차이를 구체적인 예시로 설명</a:t>
            </a:r>
          </a:p>
          <a:p>
            <a:r>
              <a:t>- "느낌이 좋다" vs "이 지표가 N% 이상이면 유효하다"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[데이터 리터러시]</a:t>
            </a:r>
          </a:p>
          <a:p>
            <a:r>
              <a:t>핵심: "코딩이나 통계 전문 지식이 필요한 게 아닙니다"</a:t>
            </a:r>
          </a:p>
          <a:p>
            <a:r>
              <a:t>"이 숫자가 의미하는 바를 해석하고, 다음 액션을 제안하는 것"이 데이터 리터러시</a:t>
            </a:r>
          </a:p>
          <a:p/>
          <a:p>
            <a:r>
              <a:t>기본 지표 4가지를 설명할 때:</a:t>
            </a:r>
          </a:p>
          <a:p>
            <a:r>
              <a:t>- DAU/MAU: "카카오톡의 DAU가 높다는 건 매일 사용하는 사람이 많다는 뜻"</a:t>
            </a:r>
          </a:p>
          <a:p>
            <a:r>
              <a:t>- 전환율: "100명이 들어와서 3명이 가입하면 전환율 3%. 이게 높은 건지 낮은 건지?"</a:t>
            </a:r>
          </a:p>
          <a:p>
            <a:r>
              <a:t>- 이탈률: "어디서 사람들이 떠나는지 알아야 개선할 수 있다"</a:t>
            </a:r>
          </a:p>
          <a:p>
            <a:r>
              <a:t>- 리텐션: "처음에 많이 와도 다시 안 오면 의미 없다"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[라이브 데모]</a:t>
            </a:r>
          </a:p>
          <a:p>
            <a:r>
              <a:t>- Gemini 접속 안내: gemini.google.com, Google 계정 로그인</a:t>
            </a:r>
          </a:p>
          <a:p>
            <a:r>
              <a:t>- AI 리서치의 장점: 빠른 초기 리서치, 아이디어 확장, 구조화</a:t>
            </a:r>
          </a:p>
          <a:p>
            <a:r>
              <a:t>- AI 리서치의 한계: 환각(Hallucination), 최신 정보 정확도 → 반드시 교차 검증 필요</a:t>
            </a:r>
          </a:p>
          <a:p/>
          <a:p>
            <a:r>
              <a:t>프롬프트 3원칙을 먼저 설명한 후, 직접 시연:</a:t>
            </a:r>
          </a:p>
          <a:p>
            <a:r>
              <a:t>1. 역할 부여 → "너는 ○○ 전문가야"</a:t>
            </a:r>
          </a:p>
          <a:p>
            <a:r>
              <a:t>2. 맥락 제공 → 구체적 상황, 산업, 범위</a:t>
            </a:r>
          </a:p>
          <a:p>
            <a:r>
              <a:t>3. 출력 형식 → 표, 리스트, 단계별</a:t>
            </a:r>
          </a:p>
          <a:p/>
          <a:p>
            <a:r>
              <a:t>Bad vs Good 프롬프트를 나란히 보여주고 결과 차이를 실시간으로 비교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[Day 2 타이틀]</a:t>
            </a:r>
          </a:p>
          <a:p>
            <a:r>
              <a:t>Day 1 복습: "어제 우리가 배운 GTM의 5대 요소 중 첫 번째는?" → 타겟 고객 정의</a:t>
            </a:r>
          </a:p>
          <a:p>
            <a:r>
              <a:t>과제 공유: 1-2명 시장 리서치 결과 간략 공유 (2-3분)</a:t>
            </a:r>
          </a:p>
          <a:p>
            <a:r>
              <a:t>핵심 질문: "모든 사람이 고객이면, 아무도 고객이 아닙니다."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[고객 세분화]</a:t>
            </a:r>
          </a:p>
          <a:p>
            <a:r>
              <a:t>세분화 4가지 기준을 설명하되, 행동적(Behavioral) 세분화가 가장 중요함을 강조</a:t>
            </a:r>
          </a:p>
          <a:p/>
          <a:p>
            <a:r>
              <a:t>"입문자들이 흔히 인구통계적 세분화에만 집중하는데, 실제 GTM에서 가장 중요한 것은 행동적 세분화입니다"</a:t>
            </a:r>
          </a:p>
          <a:p>
            <a:r>
              <a:t>이유: 같은 20대여도 '중고거래를 주 3회 하는 파워셀러'와 '한 달에 한 번 구경만 하는 사람'은 완전히 다른 고객</a:t>
            </a:r>
          </a:p>
          <a:p/>
          <a:p>
            <a:r>
              <a:t>토스/당근마켓 사례로 구체화:</a:t>
            </a:r>
          </a:p>
          <a:p>
            <a:r>
              <a:t>- 토스: "20대"가 아니라 "금융 서비스에 불편을 느끼는 디지털 네이티브"</a:t>
            </a:r>
          </a:p>
          <a:p>
            <a:r>
              <a:t>- 당근마켓: "서울 거주자"가 아니라 "동네 기반 신뢰 거래를 원하는 사람"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[페르소나 설정]</a:t>
            </a:r>
          </a:p>
          <a:p>
            <a:r>
              <a:t>"페르소나 ≠ 타겟 오디언스. 페르소나는 타겟의 '대표 인물'을 구체적으로 그린 것"</a:t>
            </a:r>
          </a:p>
          <a:p/>
          <a:p>
            <a:r>
              <a:t>뾰족한 페르소나의 5요소를 하나씩 설명:</a:t>
            </a:r>
          </a:p>
          <a:p>
            <a:r>
              <a:t>1. 기본 정보: 이름, 나이, 직업 (추상적이 아니라 구체적으로)</a:t>
            </a:r>
          </a:p>
          <a:p>
            <a:r>
              <a:t>2. 핵심 목표: 이 사람이 달성하고 싶은 것</a:t>
            </a:r>
          </a:p>
          <a:p>
            <a:r>
              <a:t>3. 핵심 불만: 목표 달성을 방해하는 것</a:t>
            </a:r>
          </a:p>
          <a:p>
            <a:r>
              <a:t>4. 현재 해결 방식: 지금 이 문제를 어떻게 해결하고 있는가</a:t>
            </a:r>
          </a:p>
          <a:p>
            <a:r>
              <a:t>5. 정보 접근 채널: 어디서 정보를 얻는가</a:t>
            </a:r>
          </a:p>
          <a:p/>
          <a:p>
            <a:r>
              <a:t>주의: "내가 상상하는 고객"이 아니라 "실제 데이터에서 도출된 고객"이어야 한다</a:t>
            </a:r>
          </a:p>
          <a:p>
            <a:r>
              <a:t>→ 이것이 2교시의 주제로 연결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[Pain Point]</a:t>
            </a:r>
          </a:p>
          <a:p>
            <a:r>
              <a:t>비정형 데이터에서 인사이트를 추출하는 프로세스:</a:t>
            </a:r>
          </a:p>
          <a:p>
            <a:r>
              <a:t>데이터 수집 → 분류 → 패턴 발견 → 인사이트 도출</a:t>
            </a:r>
          </a:p>
          <a:p/>
          <a:p>
            <a:r>
              <a:t>Pain Point 3유형:</a:t>
            </a:r>
          </a:p>
          <a:p>
            <a:r>
              <a:t>- 기능적: 직접적인 불편 (앱이 느려요, 결제가 안 돼요)</a:t>
            </a:r>
          </a:p>
          <a:p>
            <a:r>
              <a:t>- 감정적: 심리적 장벽 (불안해요, 신뢰가 안 가요)</a:t>
            </a:r>
          </a:p>
          <a:p>
            <a:r>
              <a:t>- 사회적: 관계/소속감 (혼자만 쓰는 느낌, 주변에 사용자가 없어요)</a:t>
            </a:r>
          </a:p>
          <a:p/>
          <a:p>
            <a:r>
              <a:t>실전 팁:</a:t>
            </a:r>
          </a:p>
          <a:p>
            <a:r>
              <a:t>- 별점 3점 리뷰가 가장 건설적인 피드백이 많다</a:t>
            </a:r>
          </a:p>
          <a:p>
            <a:r>
              <a:t>- 긴 리뷰일수록 강한 감정 → 핵심 Pain Point 단서</a:t>
            </a:r>
          </a:p>
          <a:p>
            <a:r>
              <a:t>- 검색 키워드: "[서비스명] 불편", "[서비스명] 대안", "[서비스명] 탈퇴"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[Day 3 타이틀]</a:t>
            </a:r>
          </a:p>
          <a:p>
            <a:r>
              <a:t>Day 2 복습: 페르소나와 Pain Point를 환기</a:t>
            </a:r>
          </a:p>
          <a:p>
            <a:r>
              <a:t>"고객의 Pain Point를 알았다. 그래서 우리 서비스가 그 문제를 어떻게 풀어줄 것인가?"</a:t>
            </a:r>
          </a:p>
          <a:p>
            <a:r>
              <a:t>"이것이 바로 가치 제안(Value Proposition)입니다"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[VP Canvas]</a:t>
            </a:r>
          </a:p>
          <a:p>
            <a:r>
              <a:t>가치 제안 = "고객이 우리 서비스를 선택해야 하는 단 하나의 이유"</a:t>
            </a:r>
          </a:p>
          <a:p/>
          <a:p>
            <a:r>
              <a:t>흔한 실수: "우리 서비스는 빠르고, 편리하고, 저렴합니다" → 아무것도 말하지 않은 것과 같다</a:t>
            </a:r>
          </a:p>
          <a:p>
            <a:r>
              <a:t>좋은 VP의 조건: 구체적, 차별적, 고객 관점</a:t>
            </a:r>
          </a:p>
          <a:p/>
          <a:p>
            <a:r>
              <a:t>VP Canvas:</a:t>
            </a:r>
          </a:p>
          <a:p>
            <a:r>
              <a:t>- 왼쪽(고객 프로필)은 Day 2에서 이미 도출 → Jobs, Pains, Gains</a:t>
            </a:r>
          </a:p>
          <a:p>
            <a:r>
              <a:t>- 오른쪽(가치 맵)을 오늘 채움 → 제품/서비스, Pain Reliever, Gain Creator</a:t>
            </a:r>
          </a:p>
          <a:p>
            <a:r>
              <a:t>- 왼쪽과 오른쪽이 '맞물리는 것'이 핵심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[포지셔닝]</a:t>
            </a:r>
          </a:p>
          <a:p>
            <a:r>
              <a:t>"포지셔닝 = 고객의 머릿속에 우리 서비스가 차지하는 위치"</a:t>
            </a:r>
          </a:p>
          <a:p>
            <a:r>
              <a:t>포지셔닝은 우리가 정하는 것이 아니라 고객이 인식하는 것. 단, 우리가 유도할 수 있음</a:t>
            </a:r>
          </a:p>
          <a:p/>
          <a:p>
            <a:r>
              <a:t>포지셔닝 스테이트먼트 공식을 배달의민족 예시로 설명</a:t>
            </a:r>
          </a:p>
          <a:p>
            <a:r>
              <a:t>- 각 빈칸을 채우는 과정이 곧 GTM 전략 수립 과정</a:t>
            </a:r>
          </a:p>
          <a:p/>
          <a:p>
            <a:r>
              <a:t>포지셔닝 맵도 간략히 설명:</a:t>
            </a:r>
          </a:p>
          <a:p>
            <a:r>
              <a:t>- X축, Y축에 고객이 중시하는 2가지 기준 설정</a:t>
            </a:r>
          </a:p>
          <a:p>
            <a:r>
              <a:t>- 경쟁사 위치 표시 → 비어 있는 공간 = 기회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[메시징 &amp; 카피라이팅]</a:t>
            </a:r>
          </a:p>
          <a:p>
            <a:r>
              <a:t>"같은 제품도 어떻게 말하느냐에 따라 전혀 다른 반응을 얻습니다"</a:t>
            </a:r>
          </a:p>
          <a:p/>
          <a:p>
            <a:r>
              <a:t>메시지 계층 구조를 토스 예시로 설명:</a:t>
            </a:r>
          </a:p>
          <a:p>
            <a:r>
              <a:t>- 브랜드 메시지(최상위): "금융을 쉽게"</a:t>
            </a:r>
          </a:p>
          <a:p>
            <a:r>
              <a:t>- 가치 메시지(중위): 타겟별 맞춤 메시지</a:t>
            </a:r>
          </a:p>
          <a:p>
            <a:r>
              <a:t>- 증거 메시지(하위): 구체적 수치/사실</a:t>
            </a:r>
          </a:p>
          <a:p/>
          <a:p>
            <a:r>
              <a:t>카피라이팅 4원칙:</a:t>
            </a:r>
          </a:p>
          <a:p>
            <a:r>
              <a:t>1. 기능이 아닌 혜택을 말하라</a:t>
            </a:r>
          </a:p>
          <a:p>
            <a:r>
              <a:t>2. 고객의 언어를 써라</a:t>
            </a:r>
          </a:p>
          <a:p>
            <a:r>
              <a:t>3. 구체적인 숫자를 활용하라</a:t>
            </a:r>
          </a:p>
          <a:p>
            <a:r>
              <a:t>4. 행동을 유도하라 (CTA)</a:t>
            </a:r>
          </a:p>
          <a:p/>
          <a:p>
            <a:r>
              <a:t>실습: 강사가 예시 기능 3개 제시 → 수강생이 혜택 중심 카피로 바꿔보기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[Day 4 타이틀]</a:t>
            </a:r>
          </a:p>
          <a:p>
            <a:r>
              <a:t>Day 3 복습: VP, 포지셔닝, 메시징</a:t>
            </a:r>
          </a:p>
          <a:p>
            <a:r>
              <a:t>"무엇을 말할지는 정했다. 이제 어디서 말할지를 정할 차례"</a:t>
            </a:r>
          </a:p>
          <a:p>
            <a:r>
              <a:t>핵심 질문: "예산이 거의 없는 초기 스타트업은 어떻게 고객에게 도달할까?"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[미디어 3유형]</a:t>
            </a:r>
          </a:p>
          <a:p>
            <a:r>
              <a:t>각 유형을 설명하고 구체적인 예시를 제시</a:t>
            </a:r>
          </a:p>
          <a:p>
            <a:r>
              <a:t>- Owned: 통제 가능하지만 도달 범위가 한정적</a:t>
            </a:r>
          </a:p>
          <a:p>
            <a:r>
              <a:t>- Earned: 신뢰도 높지만 통제 불가</a:t>
            </a:r>
          </a:p>
          <a:p>
            <a:r>
              <a:t>- Paid: 즉각적이지만 비용이 높고 중단 시 효과 소멸</a:t>
            </a:r>
          </a:p>
          <a:p/>
          <a:p>
            <a:r>
              <a:t>핵심: 세 유형은 독립적이 아니라 상호 보완적</a:t>
            </a:r>
          </a:p>
          <a:p>
            <a:r>
              <a:t>초기 스타트업 현실: Paid에 쓸 예산이 없다 → Owned와 Earned 중심으로 시작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[채널 전략 3원칙]</a:t>
            </a:r>
          </a:p>
          <a:p>
            <a:r>
              <a:t>1. 한 채널에서 먼저 이기고 확장하라</a:t>
            </a:r>
          </a:p>
          <a:p>
            <a:r>
              <a:t>   → 모든 채널에 분산하면 어디서도 임팩트를 내지 못함</a:t>
            </a:r>
          </a:p>
          <a:p>
            <a:r>
              <a:t>2. 고객이 있는 곳을 따라가라</a:t>
            </a:r>
          </a:p>
          <a:p>
            <a:r>
              <a:t>   → 페르소나의 "정보 접근 채널"(Day 2)이 채널 선택의 출발점</a:t>
            </a:r>
          </a:p>
          <a:p>
            <a:r>
              <a:t>3. 초기에는 스케일보다 학습이 목적</a:t>
            </a:r>
          </a:p>
          <a:p>
            <a:r>
              <a:t>   → "우리 메시지가 타겟에게 통하는가?" 검증이 우선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[NSM &amp; AARRR]</a:t>
            </a:r>
          </a:p>
          <a:p>
            <a:r>
              <a:t>North Star Metric: 서비스 성공을 가장 잘 대변하는 단 하나의 지표</a:t>
            </a:r>
          </a:p>
          <a:p>
            <a:r>
              <a:t>- 좋은 NSM 조건: 고객 가치 반영, 매출/성장 연결, 팀 전체 이해 가능</a:t>
            </a:r>
          </a:p>
          <a:p/>
          <a:p>
            <a:r>
              <a:t>AARRR 퍼널:</a:t>
            </a:r>
          </a:p>
          <a:p>
            <a:r>
              <a:t>- Acquisition(획득) → Activation(활성화) → Retention(유지) → Revenue(수익) → Referral(추천)</a:t>
            </a:r>
          </a:p>
          <a:p/>
          <a:p>
            <a:r>
              <a:t>GTM 초기 집중 단계: Acquisition → Activation</a:t>
            </a:r>
          </a:p>
          <a:p>
            <a:r>
              <a:t>"일단 사람들이 오게 만들고(Acquisition), 와서 '아, 이거 좋네' 느끼게 만드는 것(Activation)이 우선"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[Day 5 타이틀]</a:t>
            </a:r>
          </a:p>
          <a:p>
            <a:r>
              <a:t>5일간의 여정 요약 후, 오늘의 포커스 설명</a:t>
            </a:r>
          </a:p>
          <a:p>
            <a:r>
              <a:t>"GTM 전략을 세워서 런칭했다고 끝이 아닙니다. 런칭은 시작입니다."</a:t>
            </a:r>
          </a:p>
          <a:p>
            <a:r>
              <a:t>"그리고 이 모든 과정을 취업 무기로 만들겠습니다."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 What / Now What]</a:t>
            </a:r>
          </a:p>
          <a:p>
            <a:r>
              <a:t>런칭 후 데이터를 보는 핵심 사고방식:</a:t>
            </a:r>
          </a:p>
          <a:p>
            <a:r>
              <a:t>- So What? = 이 데이터가 의미하는 바는?</a:t>
            </a:r>
          </a:p>
          <a:p>
            <a:r>
              <a:t>- Now What? = 그래서 우리가 해야 할 액션은?</a:t>
            </a:r>
          </a:p>
          <a:p/>
          <a:p>
            <a:r>
              <a:t>사례 시나리오로 함께 연습:</a:t>
            </a:r>
          </a:p>
          <a:p>
            <a:r>
              <a:t>"랜딩페이지 방문자 1,000명 중 회원가입 30명 (전환율 3%)"</a:t>
            </a:r>
          </a:p>
          <a:p>
            <a:r>
              <a:t>→ So What: 업계 평균(5-10%)보다 낮음</a:t>
            </a:r>
          </a:p>
          <a:p>
            <a:r>
              <a:t>→ Now What: A/B 테스트, 가입 단계 축소, 메시지 변경 등</a:t>
            </a:r>
          </a:p>
          <a:p/>
          <a:p>
            <a:r>
              <a:t>ICE 스코어링:</a:t>
            </a:r>
          </a:p>
          <a:p>
            <a:r>
              <a:t>- Impact + Confidence + Ease ÷ 3 = 우선순위 점수</a:t>
            </a:r>
          </a:p>
          <a:p>
            <a:r>
              <a:t>- 높은 순서대로 실행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[취업 전략]</a:t>
            </a:r>
          </a:p>
          <a:p>
            <a:r>
              <a:t>핵심: 면접관이 보고 싶은 것은 "경험의 양"이 아닌 "사고의 깊이"</a:t>
            </a:r>
          </a:p>
          <a:p/>
          <a:p>
            <a:r>
              <a:t>Before/After 비교:</a:t>
            </a:r>
          </a:p>
          <a:p>
            <a:r>
              <a:t>- Before: "마케팅에 관심이 많고..."</a:t>
            </a:r>
          </a:p>
          <a:p>
            <a:r>
              <a:t>- After: "타겟 고객의 행동 데이터를 기반으로 핵심 페인포인트를 도출하고..."</a:t>
            </a:r>
          </a:p>
          <a:p/>
          <a:p>
            <a:r>
              <a:t>실무 경험 없이도 보여줄 수 있는 4가지:</a:t>
            </a:r>
          </a:p>
          <a:p>
            <a:r>
              <a:t>1. 시장을 보는 눈</a:t>
            </a:r>
          </a:p>
          <a:p>
            <a:r>
              <a:t>2. 고객 이해력</a:t>
            </a:r>
          </a:p>
          <a:p>
            <a:r>
              <a:t>3. 논리적 사고력</a:t>
            </a:r>
          </a:p>
          <a:p>
            <a:r>
              <a:t>4. 실행 의지</a:t>
            </a:r>
          </a:p>
          <a:p/>
          <a:p>
            <a:r>
              <a:t>포트폴리오: 5일간의 과제물을 하나의 GTM 전략 보고서로 재구성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[최종 정리]</a:t>
            </a:r>
          </a:p>
          <a:p>
            <a:r>
              <a:t>5일간의 핵심 키워드를 하나씩 짚으며 마무리</a:t>
            </a:r>
          </a:p>
          <a:p/>
          <a:p>
            <a:r>
              <a:t>마지막 메시지:</a:t>
            </a:r>
          </a:p>
          <a:p>
            <a:r>
              <a:t>"GTM은 '전략'이 아니라 '사고방식'입니다.</a:t>
            </a:r>
          </a:p>
          <a:p>
            <a:r>
              <a:t>가설을 세우고, 데이터로 검증하고, 논리적으로 도출하는 이 과정은</a:t>
            </a:r>
          </a:p>
          <a:p>
            <a:r>
              <a:t>GTM뿐 아니라 기획자/마케터로서 여러분이 평생 쓸 수 있는 무기입니다.</a:t>
            </a:r>
          </a:p>
          <a:p>
            <a:r>
              <a:t>여러분은 이미 이 무기를 갖추기 시작했습니다. 이제 실전에서 사용하세요."</a:t>
            </a:r>
          </a:p>
          <a:p/>
          <a:p>
            <a:r>
              <a:t>질의응답 시간 안내</a:t>
            </a:r>
          </a:p>
          <a:p>
            <a:r>
              <a:t>강사 연락처 및 후속 질문 채널 안내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chart" Target="../charts/char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1">
                <a:tint val="100000"/>
                <a:shade val="100000"/>
                <a:satMod val="130000"/>
              </a:schemeClr>
            </a:gs>
            <a:gs pos="100000">
              <a:schemeClr val="accent1">
                <a:tint val="50000"/>
                <a:shade val="100000"/>
                <a:satMod val="350000"/>
              </a:schemeClr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0" y="-2286000"/>
            <a:ext cx="7315200" cy="7315200"/>
          </a:xfrm>
          <a:prstGeom prst="ellipse">
            <a:avLst/>
          </a:prstGeom>
          <a:solidFill>
            <a:srgbClr val="00D2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2743200"/>
            <a:ext cx="5486400" cy="5486400"/>
          </a:xfrm>
          <a:prstGeom prst="ellipse">
            <a:avLst/>
          </a:prstGeom>
          <a:solidFill>
            <a:srgbClr val="7B2FF7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>
            <a:gsLst>
              <a:gs pos="0">
                <a:srgbClr val="00D2FF"/>
              </a:gs>
              <a:gs pos="100000">
                <a:srgbClr val="7B2FF7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맑은 고딕"/>
              </a:defRPr>
            </a:pPr>
            <a:r>
              <a:t>IT 비즈니스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맑은 고딕"/>
              </a:defRPr>
            </a:pPr>
            <a:r>
              <a:t>GTM 전략 실전 과정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70708C"/>
                </a:solidFill>
                <a:latin typeface="Arial"/>
              </a:defRPr>
            </a:pPr>
            <a:r>
              <a:t>Go-To-Market Strategy for IT Business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474720"/>
            <a:ext cx="3657600" cy="38100"/>
          </a:xfrm>
          <a:prstGeom prst="rect">
            <a:avLst/>
          </a:prstGeom>
          <a:gradFill>
            <a:gsLst>
              <a:gs pos="0">
                <a:srgbClr val="00D2FF"/>
              </a:gs>
              <a:gs pos="100000">
                <a:srgbClr val="7B2FF7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3931920"/>
            <a:ext cx="4572000" cy="228600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4114800"/>
            <a:ext cx="4114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50"/>
              </a:spcAft>
              <a:defRPr sz="1600" b="1" i="0">
                <a:solidFill>
                  <a:srgbClr val="FFFFFF"/>
                </a:solidFill>
                <a:latin typeface="맑은 고딕"/>
              </a:defRPr>
            </a:pPr>
            <a:r>
              <a:t>15시간  ·  5일 과정  ·  오프라인 대면</a:t>
            </a:r>
          </a:p>
          <a:p>
            <a:pPr>
              <a:spcAft>
                <a:spcPts val="650"/>
              </a:spcAft>
              <a:defRPr sz="1500">
                <a:solidFill>
                  <a:srgbClr val="B8B8CC"/>
                </a:solidFill>
                <a:latin typeface="맑은 고딕"/>
              </a:defRPr>
            </a:pPr>
          </a:p>
          <a:p>
            <a:pPr>
              <a:spcAft>
                <a:spcPts val="650"/>
              </a:spcAft>
              <a:defRPr sz="1300" b="0" i="0">
                <a:solidFill>
                  <a:srgbClr val="B8B8CC"/>
                </a:solidFill>
                <a:latin typeface="맑은 고딕"/>
              </a:defRPr>
            </a:pPr>
            <a:r>
              <a:t>대상    IT 업계 마케터/기획자 지망 취업준비생</a:t>
            </a:r>
          </a:p>
          <a:p>
            <a:pPr>
              <a:spcAft>
                <a:spcPts val="650"/>
              </a:spcAft>
              <a:defRPr sz="1300" b="0" i="0">
                <a:solidFill>
                  <a:srgbClr val="B8B8CC"/>
                </a:solidFill>
                <a:latin typeface="맑은 고딕"/>
              </a:defRPr>
            </a:pPr>
            <a:r>
              <a:t>수준    입문 (사전 지식 불요)</a:t>
            </a:r>
          </a:p>
          <a:p>
            <a:pPr>
              <a:spcAft>
                <a:spcPts val="650"/>
              </a:spcAft>
              <a:defRPr sz="1300" b="0" i="0">
                <a:solidFill>
                  <a:srgbClr val="B8B8CC"/>
                </a:solidFill>
                <a:latin typeface="맑은 고딕"/>
              </a:defRPr>
            </a:pPr>
            <a:r>
              <a:t>AI       Google Gemini (무료 버전)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0" y="1097280"/>
            <a:ext cx="4572000" cy="868680"/>
          </a:xfrm>
          <a:prstGeom prst="roundRect">
            <a:avLst/>
          </a:prstGeom>
          <a:gradFill>
            <a:gsLst>
              <a:gs pos="0">
                <a:srgbClr val="00D2FF"/>
              </a:gs>
              <a:gs pos="100000">
                <a:srgbClr val="0080CC"/>
              </a:gs>
            </a:gsLst>
            <a:lin ang="0" scaled="1"/>
          </a:gra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170432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맑은 고딕"/>
              </a:defRPr>
            </a:pPr>
            <a:r>
              <a:t>Day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15087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맑은 고딕"/>
              </a:defRPr>
            </a:pPr>
            <a:r>
              <a:t>GTM의 뼈대와 논리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0" y="2148840"/>
            <a:ext cx="4572000" cy="868680"/>
          </a:xfrm>
          <a:prstGeom prst="roundRect">
            <a:avLst/>
          </a:prstGeom>
          <a:gradFill>
            <a:gsLst>
              <a:gs pos="0">
                <a:srgbClr val="7B2FF7"/>
              </a:gs>
              <a:gs pos="100000">
                <a:srgbClr val="5A1FBB"/>
              </a:gs>
            </a:gsLst>
            <a:lin ang="0" scaled="1"/>
          </a:gra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2221992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맑은 고딕"/>
              </a:defRPr>
            </a:pPr>
            <a:r>
              <a:t>Day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5603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맑은 고딕"/>
              </a:defRPr>
            </a:pPr>
            <a:r>
              <a:t>타겟 고객 &amp; 페인포인트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0" y="3200400"/>
            <a:ext cx="4572000" cy="868680"/>
          </a:xfrm>
          <a:prstGeom prst="roundRect">
            <a:avLst/>
          </a:prstGeom>
          <a:gradFill>
            <a:gsLst>
              <a:gs pos="0">
                <a:srgbClr val="FF6B35"/>
              </a:gs>
              <a:gs pos="100000">
                <a:srgbClr val="CC4400"/>
              </a:gs>
            </a:gsLst>
            <a:lin ang="0" scaled="1"/>
          </a:gra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0" y="3273552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맑은 고딕"/>
              </a:defRPr>
            </a:pPr>
            <a:r>
              <a:t>Day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36118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맑은 고딕"/>
              </a:defRPr>
            </a:pPr>
            <a:r>
              <a:t>포지셔닝 &amp; 메시지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0" y="4251960"/>
            <a:ext cx="4572000" cy="868680"/>
          </a:xfrm>
          <a:prstGeom prst="roundRect">
            <a:avLst/>
          </a:prstGeom>
          <a:gradFill>
            <a:gsLst>
              <a:gs pos="0">
                <a:srgbClr val="00E696"/>
              </a:gs>
              <a:gs pos="100000">
                <a:srgbClr val="00AA6E"/>
              </a:gs>
            </a:gsLst>
            <a:lin ang="0" scaled="1"/>
          </a:gra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0" y="4325112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맑은 고딕"/>
              </a:defRPr>
            </a:pPr>
            <a:r>
              <a:t>Day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46634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맑은 고딕"/>
              </a:defRPr>
            </a:pPr>
            <a:r>
              <a:t>채널 전략 &amp; KPI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0" y="5303520"/>
            <a:ext cx="4572000" cy="868680"/>
          </a:xfrm>
          <a:prstGeom prst="roundRect">
            <a:avLst/>
          </a:prstGeom>
          <a:gradFill>
            <a:gsLst>
              <a:gs pos="0">
                <a:srgbClr val="FF3585"/>
              </a:gs>
              <a:gs pos="100000">
                <a:srgbClr val="CC1A66"/>
              </a:gs>
            </a:gsLst>
            <a:lin ang="0" scaled="1"/>
          </a:gra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0" y="5376672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맑은 고딕"/>
              </a:defRPr>
            </a:pPr>
            <a:r>
              <a:t>Day 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0" y="57150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맑은 고딕"/>
              </a:defRPr>
            </a:pPr>
            <a:r>
              <a:t>런칭 운영 &amp; 취업 무기</a:t>
            </a:r>
          </a:p>
        </p:txBody>
      </p:sp>
    </p:spTree>
  </p:cSld>
  <p:clrMapOvr>
    <a:masterClrMapping/>
  </p:clrMapOvr>
  <p:transition spd="med">
    <p:fade thruBlk="0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1">
                <a:tint val="100000"/>
                <a:shade val="100000"/>
                <a:satMod val="130000"/>
              </a:schemeClr>
            </a:gs>
            <a:gs pos="100000">
              <a:schemeClr val="accent1">
                <a:tint val="50000"/>
                <a:shade val="100000"/>
                <a:satMod val="350000"/>
              </a:schemeClr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gradFill>
            <a:gsLst>
              <a:gs pos="0">
                <a:srgbClr val="7B2FF7"/>
              </a:gs>
              <a:gs pos="100000">
                <a:srgbClr val="00D2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과정 목표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2286000" cy="38100"/>
          </a:xfrm>
          <a:prstGeom prst="rect">
            <a:avLst/>
          </a:prstGeom>
          <a:gradFill>
            <a:gsLst>
              <a:gs pos="0">
                <a:srgbClr val="7B2FF7"/>
              </a:gs>
              <a:gs pos="100000">
                <a:srgbClr val="00D2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515600" cy="658368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755648"/>
            <a:ext cx="502920" cy="411480"/>
          </a:xfrm>
          <a:prstGeom prst="round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D2FF"/>
                </a:solidFill>
                <a:latin typeface="맑은 고딕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80136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IT 프로덕트의 라이프사이클과 GTM 전략의 역할을 설명할 수 있다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645920"/>
            <a:ext cx="50800" cy="658368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515600" cy="658368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4400" y="2560320"/>
            <a:ext cx="502920" cy="411480"/>
          </a:xfrm>
          <a:prstGeom prst="round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57860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7B2FF7"/>
                </a:solidFill>
                <a:latin typeface="맑은 고딕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606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데이터 기반으로 타겟 고객을 정의하고 페인포인트를 도출할 수 있다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450592"/>
            <a:ext cx="50800" cy="658368"/>
          </a:xfrm>
          <a:prstGeom prst="rect">
            <a:avLst/>
          </a:prstGeom>
          <a:solidFill>
            <a:srgbClr val="7B2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3255264"/>
            <a:ext cx="10515600" cy="658368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14400" y="3364992"/>
            <a:ext cx="502920" cy="411480"/>
          </a:xfrm>
          <a:prstGeom prst="round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38328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6B35"/>
                </a:solidFill>
                <a:latin typeface="맑은 고딕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341071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가치 제안(VP)과 포지셔닝을 수립하고, 메시징 프레임워크를 작성할 수 있다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3255264"/>
            <a:ext cx="50800" cy="658368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31520" y="4059936"/>
            <a:ext cx="10515600" cy="658368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4400" y="4169664"/>
            <a:ext cx="502920" cy="411480"/>
          </a:xfrm>
          <a:prstGeom prst="round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18795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E696"/>
                </a:solidFill>
                <a:latin typeface="맑은 고딕"/>
              </a:defRPr>
            </a:pPr>
            <a: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4215384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채널 전략을 설계하고 성과 지표(KPI)를 설정할 수 있다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059936"/>
            <a:ext cx="50800" cy="658368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1520" y="4864608"/>
            <a:ext cx="10515600" cy="658368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14400" y="4974336"/>
            <a:ext cx="502920" cy="411480"/>
          </a:xfrm>
          <a:prstGeom prst="round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992624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3585"/>
                </a:solidFill>
                <a:latin typeface="맑은 고딕"/>
              </a:defRPr>
            </a:pPr>
            <a: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0" y="5020056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Gemini를 활용하여 GTM 리서치와 분석 업무를 효율화할 수 있다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864608"/>
            <a:ext cx="50800" cy="658368"/>
          </a:xfrm>
          <a:prstGeom prst="rect">
            <a:avLst/>
          </a:prstGeom>
          <a:solidFill>
            <a:srgbClr val="FF3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1520" y="5669280"/>
            <a:ext cx="10515600" cy="658368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14400" y="5779008"/>
            <a:ext cx="502920" cy="411480"/>
          </a:xfrm>
          <a:prstGeom prst="round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797296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D600"/>
                </a:solidFill>
                <a:latin typeface="맑은 고딕"/>
              </a:defRPr>
            </a:pPr>
            <a: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45920" y="582472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맑은 고딕"/>
              </a:defRPr>
            </a:pPr>
            <a:r>
              <a:t>위 역량을 이력서/면접에서 어필하는 방법을 알고 적용할 수 있다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5669280"/>
            <a:ext cx="50800" cy="658368"/>
          </a:xfrm>
          <a:prstGeom prst="rect">
            <a:avLst/>
          </a:prstGeom>
          <a:solidFill>
            <a:srgbClr val="FFD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 thruBlk="0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1">
                <a:tint val="100000"/>
                <a:shade val="100000"/>
                <a:satMod val="130000"/>
              </a:schemeClr>
            </a:gs>
            <a:gs pos="100000">
              <a:schemeClr val="accent1">
                <a:tint val="50000"/>
                <a:shade val="100000"/>
                <a:satMod val="350000"/>
              </a:schemeClr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gradFill>
            <a:gsLst>
              <a:gs pos="0">
                <a:srgbClr val="00D2FF"/>
              </a:gs>
              <a:gs pos="100000">
                <a:srgbClr val="7B2FF7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맑은 고딕"/>
              </a:defRPr>
            </a:pPr>
            <a:r>
              <a:t>5일 과정 로드맵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2286000" cy="38100"/>
          </a:xfrm>
          <a:prstGeom prst="rect">
            <a:avLst/>
          </a:prstGeom>
          <a:gradFill>
            <a:gsLst>
              <a:gs pos="0">
                <a:srgbClr val="00D2FF"/>
              </a:gs>
              <a:gs pos="100000">
                <a:srgbClr val="7B2FF7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20040" y="1371600"/>
            <a:ext cx="2148840" cy="512064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371600"/>
            <a:ext cx="2148840" cy="502920"/>
          </a:xfrm>
          <a:prstGeom prst="rect">
            <a:avLst/>
          </a:prstGeom>
          <a:gradFill>
            <a:gsLst>
              <a:gs pos="0">
                <a:srgbClr val="00D2FF"/>
              </a:gs>
              <a:gs pos="100000">
                <a:srgbClr val="0080CC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41732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Day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1874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IT 비즈니스의 뼈대와</a:t>
            </a:r>
            <a:br/>
            <a:r>
              <a:t>GTM의 논리 이해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34640"/>
            <a:ext cx="1874520" cy="25400"/>
          </a:xfrm>
          <a:prstGeom prst="rect">
            <a:avLst/>
          </a:prstGeom>
          <a:gradFill>
            <a:gsLst>
              <a:gs pos="0">
                <a:srgbClr val="00D2FF"/>
              </a:gs>
              <a:gs pos="100000">
                <a:srgbClr val="0080CC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3063240"/>
            <a:ext cx="548640" cy="256032"/>
          </a:xfrm>
          <a:prstGeom prst="round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3072384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D2FF"/>
                </a:solidFill>
                <a:latin typeface="맑은 고딕"/>
              </a:defRPr>
            </a:pPr>
            <a:r>
              <a:t>1교시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55848"/>
            <a:ext cx="1874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8B8CC"/>
                </a:solidFill>
                <a:latin typeface="맑은 고딕"/>
              </a:defRPr>
            </a:pPr>
            <a:r>
              <a:t>프로덕트 라이프사이클과</a:t>
            </a:r>
            <a:br/>
            <a:r>
              <a:t>GTM의 역할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114800"/>
            <a:ext cx="548640" cy="256032"/>
          </a:xfrm>
          <a:prstGeom prst="round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123944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D2FF"/>
                </a:solidFill>
                <a:latin typeface="맑은 고딕"/>
              </a:defRPr>
            </a:pPr>
            <a:r>
              <a:t>2교시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407408"/>
            <a:ext cx="1874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8B8CC"/>
                </a:solidFill>
                <a:latin typeface="맑은 고딕"/>
              </a:defRPr>
            </a:pPr>
            <a:r>
              <a:t>실패 vs 성공 GTM:</a:t>
            </a:r>
            <a:br/>
            <a:r>
              <a:t>가설 검증과 데이터 리터러시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166360"/>
            <a:ext cx="548640" cy="256032"/>
          </a:xfrm>
          <a:prstGeom prst="round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5175504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D2FF"/>
                </a:solidFill>
                <a:latin typeface="맑은 고딕"/>
              </a:defRPr>
            </a:pPr>
            <a:r>
              <a:t>3교시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458968"/>
            <a:ext cx="1874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8B8CC"/>
                </a:solidFill>
                <a:latin typeface="맑은 고딕"/>
              </a:defRPr>
            </a:pPr>
            <a:r>
              <a:t>[라이브 데모]</a:t>
            </a:r>
            <a:br/>
            <a:r>
              <a:t>Gemini로 시장 리서치 효율화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78024" y="3474720"/>
            <a:ext cx="109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70708C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78608" y="1371600"/>
            <a:ext cx="2148840" cy="512064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578608" y="1371600"/>
            <a:ext cx="2148840" cy="502920"/>
          </a:xfrm>
          <a:prstGeom prst="rect">
            <a:avLst/>
          </a:prstGeom>
          <a:gradFill>
            <a:gsLst>
              <a:gs pos="0">
                <a:srgbClr val="7B2FF7"/>
              </a:gs>
              <a:gs pos="100000">
                <a:srgbClr val="5A1FBB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578608" y="141732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Day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5768" y="2011680"/>
            <a:ext cx="1874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타겟 고객 정의와</a:t>
            </a:r>
            <a:br/>
            <a:r>
              <a:t>페인포인트 발굴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15768" y="2834640"/>
            <a:ext cx="1874520" cy="25400"/>
          </a:xfrm>
          <a:prstGeom prst="rect">
            <a:avLst/>
          </a:prstGeom>
          <a:gradFill>
            <a:gsLst>
              <a:gs pos="0">
                <a:srgbClr val="7B2FF7"/>
              </a:gs>
              <a:gs pos="100000">
                <a:srgbClr val="5A1FBB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715768" y="3063240"/>
            <a:ext cx="548640" cy="256032"/>
          </a:xfrm>
          <a:prstGeom prst="round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15768" y="3072384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7B2FF7"/>
                </a:solidFill>
                <a:latin typeface="맑은 고딕"/>
              </a:defRPr>
            </a:pPr>
            <a:r>
              <a:t>1교시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15768" y="3355848"/>
            <a:ext cx="1874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8B8CC"/>
                </a:solidFill>
                <a:latin typeface="맑은 고딕"/>
              </a:defRPr>
            </a:pPr>
            <a:r>
              <a:t>행동 기반 고객 세분화 &amp;</a:t>
            </a:r>
            <a:br/>
            <a:r>
              <a:t>페르소나 설정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15768" y="4114800"/>
            <a:ext cx="548640" cy="256032"/>
          </a:xfrm>
          <a:prstGeom prst="round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15768" y="4123944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7B2FF7"/>
                </a:solidFill>
                <a:latin typeface="맑은 고딕"/>
              </a:defRPr>
            </a:pPr>
            <a:r>
              <a:t>2교시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15768" y="4407408"/>
            <a:ext cx="1874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8B8CC"/>
                </a:solidFill>
                <a:latin typeface="맑은 고딕"/>
              </a:defRPr>
            </a:pPr>
            <a:r>
              <a:t>리뷰/커뮤니티 데이터로</a:t>
            </a:r>
            <a:br/>
            <a:r>
              <a:t>Pain Point 도출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15768" y="5166360"/>
            <a:ext cx="548640" cy="256032"/>
          </a:xfrm>
          <a:prstGeom prst="round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15768" y="5175504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7B2FF7"/>
                </a:solidFill>
                <a:latin typeface="맑은 고딕"/>
              </a:defRPr>
            </a:pPr>
            <a:r>
              <a:t>3교시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15768" y="5458968"/>
            <a:ext cx="1874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8B8CC"/>
                </a:solidFill>
                <a:latin typeface="맑은 고딕"/>
              </a:defRPr>
            </a:pPr>
            <a:r>
              <a:t>[라이브 데모]</a:t>
            </a:r>
            <a:br/>
            <a:r>
              <a:t>AI로 페르소나 역추적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36592" y="3474720"/>
            <a:ext cx="109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70708C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837176" y="1371600"/>
            <a:ext cx="2148840" cy="512064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837176" y="1371600"/>
            <a:ext cx="2148840" cy="502920"/>
          </a:xfrm>
          <a:prstGeom prst="rect">
            <a:avLst/>
          </a:prstGeom>
          <a:gradFill>
            <a:gsLst>
              <a:gs pos="0">
                <a:srgbClr val="FF6B35"/>
              </a:gs>
              <a:gs pos="100000">
                <a:srgbClr val="CC4400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37176" y="141732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Day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74336" y="2011680"/>
            <a:ext cx="1874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포지셔닝 및</a:t>
            </a:r>
            <a:br/>
            <a:r>
              <a:t>핵심 메시지 기획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74336" y="2834640"/>
            <a:ext cx="1874520" cy="25400"/>
          </a:xfrm>
          <a:prstGeom prst="rect">
            <a:avLst/>
          </a:prstGeom>
          <a:gradFill>
            <a:gsLst>
              <a:gs pos="0">
                <a:srgbClr val="FF6B35"/>
              </a:gs>
              <a:gs pos="100000">
                <a:srgbClr val="CC4400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974336" y="3063240"/>
            <a:ext cx="548640" cy="256032"/>
          </a:xfrm>
          <a:prstGeom prst="round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336" y="3072384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6B35"/>
                </a:solidFill>
                <a:latin typeface="맑은 고딕"/>
              </a:defRPr>
            </a:pPr>
            <a:r>
              <a:t>1교시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74336" y="3355848"/>
            <a:ext cx="1874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8B8CC"/>
                </a:solidFill>
                <a:latin typeface="맑은 고딕"/>
              </a:defRPr>
            </a:pPr>
            <a:r>
              <a:t>VP Canvas &amp;</a:t>
            </a:r>
            <a:br/>
            <a:r>
              <a:t>포지셔닝 스테이트먼트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974336" y="4114800"/>
            <a:ext cx="548640" cy="256032"/>
          </a:xfrm>
          <a:prstGeom prst="round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74336" y="4123944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6B35"/>
                </a:solidFill>
                <a:latin typeface="맑은 고딕"/>
              </a:defRPr>
            </a:pPr>
            <a:r>
              <a:t>2교시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74336" y="4407408"/>
            <a:ext cx="1874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8B8CC"/>
                </a:solidFill>
                <a:latin typeface="맑은 고딕"/>
              </a:defRPr>
            </a:pPr>
            <a:r>
              <a:t>메시징 프레임워크 &amp;</a:t>
            </a:r>
            <a:br/>
            <a:r>
              <a:t>카피라이팅 논리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74336" y="5166360"/>
            <a:ext cx="548640" cy="256032"/>
          </a:xfrm>
          <a:prstGeom prst="round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336" y="5175504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6B35"/>
                </a:solidFill>
                <a:latin typeface="맑은 고딕"/>
              </a:defRPr>
            </a:pPr>
            <a:r>
              <a:t>3교시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74336" y="5458968"/>
            <a:ext cx="1874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8B8CC"/>
                </a:solidFill>
                <a:latin typeface="맑은 고딕"/>
              </a:defRPr>
            </a:pPr>
            <a:r>
              <a:t>[라이브 데모]</a:t>
            </a:r>
            <a:br/>
            <a:r>
              <a:t>GTM 메시지 &amp; A/B 테스트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95160" y="3474720"/>
            <a:ext cx="109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70708C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095744" y="1371600"/>
            <a:ext cx="2148840" cy="512064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095744" y="1371600"/>
            <a:ext cx="2148840" cy="502920"/>
          </a:xfrm>
          <a:prstGeom prst="rect">
            <a:avLst/>
          </a:prstGeom>
          <a:gradFill>
            <a:gsLst>
              <a:gs pos="0">
                <a:srgbClr val="00E696"/>
              </a:gs>
              <a:gs pos="100000">
                <a:srgbClr val="00AA6E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095744" y="141732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Day 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232904" y="2011680"/>
            <a:ext cx="1874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GTM 채널 전략과</a:t>
            </a:r>
            <a:br/>
            <a:r>
              <a:t>성과 지표(KPI) 설정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232904" y="2834640"/>
            <a:ext cx="1874520" cy="25400"/>
          </a:xfrm>
          <a:prstGeom prst="rect">
            <a:avLst/>
          </a:prstGeom>
          <a:gradFill>
            <a:gsLst>
              <a:gs pos="0">
                <a:srgbClr val="00E696"/>
              </a:gs>
              <a:gs pos="100000">
                <a:srgbClr val="00AA6E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7232904" y="3063240"/>
            <a:ext cx="548640" cy="256032"/>
          </a:xfrm>
          <a:prstGeom prst="round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32904" y="3072384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E696"/>
                </a:solidFill>
                <a:latin typeface="맑은 고딕"/>
              </a:defRPr>
            </a:pPr>
            <a:r>
              <a:t>1교시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32904" y="3355848"/>
            <a:ext cx="1874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8B8CC"/>
                </a:solidFill>
                <a:latin typeface="맑은 고딕"/>
              </a:defRPr>
            </a:pPr>
            <a:r>
              <a:t>Owned/Earned/Paid</a:t>
            </a:r>
            <a:br/>
            <a:r>
              <a:t>채널 믹스 전략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232904" y="4114800"/>
            <a:ext cx="548640" cy="256032"/>
          </a:xfrm>
          <a:prstGeom prst="round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232904" y="4123944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E696"/>
                </a:solidFill>
                <a:latin typeface="맑은 고딕"/>
              </a:defRPr>
            </a:pPr>
            <a:r>
              <a:t>2교시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32904" y="4407408"/>
            <a:ext cx="1874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8B8CC"/>
                </a:solidFill>
                <a:latin typeface="맑은 고딕"/>
              </a:defRPr>
            </a:pPr>
            <a:r>
              <a:t>North Star Metric &amp;</a:t>
            </a:r>
            <a:br/>
            <a:r>
              <a:t>AARRR KPI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232904" y="5166360"/>
            <a:ext cx="548640" cy="256032"/>
          </a:xfrm>
          <a:prstGeom prst="round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32904" y="5175504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E696"/>
                </a:solidFill>
                <a:latin typeface="맑은 고딕"/>
              </a:defRPr>
            </a:pPr>
            <a:r>
              <a:t>3교시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232904" y="5458968"/>
            <a:ext cx="1874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8B8CC"/>
                </a:solidFill>
                <a:latin typeface="맑은 고딕"/>
              </a:defRPr>
            </a:pPr>
            <a:r>
              <a:t>[케이스 스터디]</a:t>
            </a:r>
            <a:br/>
            <a:r>
              <a:t>스타트업 GTM 리버스 엔지니어링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253728" y="3474720"/>
            <a:ext cx="10972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70708C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354312" y="1371600"/>
            <a:ext cx="2148840" cy="512064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354312" y="1371600"/>
            <a:ext cx="2148840" cy="502920"/>
          </a:xfrm>
          <a:prstGeom prst="rect">
            <a:avLst/>
          </a:prstGeom>
          <a:gradFill>
            <a:gsLst>
              <a:gs pos="0">
                <a:srgbClr val="FF3585"/>
              </a:gs>
              <a:gs pos="100000">
                <a:srgbClr val="CC1A66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54312" y="1417320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Day 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91472" y="2011680"/>
            <a:ext cx="1874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런칭 이후 운영 &amp;</a:t>
            </a:r>
            <a:br/>
            <a:r>
              <a:t>취업 무기화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491472" y="2834640"/>
            <a:ext cx="1874520" cy="25400"/>
          </a:xfrm>
          <a:prstGeom prst="rect">
            <a:avLst/>
          </a:prstGeom>
          <a:gradFill>
            <a:gsLst>
              <a:gs pos="0">
                <a:srgbClr val="FF3585"/>
              </a:gs>
              <a:gs pos="100000">
                <a:srgbClr val="CC1A66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9491472" y="3063240"/>
            <a:ext cx="548640" cy="256032"/>
          </a:xfrm>
          <a:prstGeom prst="round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491472" y="3072384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3585"/>
                </a:solidFill>
                <a:latin typeface="맑은 고딕"/>
              </a:defRPr>
            </a:pPr>
            <a:r>
              <a:t>1교시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491472" y="3355848"/>
            <a:ext cx="1874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8B8CC"/>
                </a:solidFill>
                <a:latin typeface="맑은 고딕"/>
              </a:defRPr>
            </a:pPr>
            <a:r>
              <a:t>전략적 데이터 트래킹 &amp;</a:t>
            </a:r>
            <a:br/>
            <a:r>
              <a:t>So What/Now What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491472" y="4114800"/>
            <a:ext cx="548640" cy="256032"/>
          </a:xfrm>
          <a:prstGeom prst="round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491472" y="4123944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3585"/>
                </a:solidFill>
                <a:latin typeface="맑은 고딕"/>
              </a:defRPr>
            </a:pPr>
            <a:r>
              <a:t>2교시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91472" y="4407408"/>
            <a:ext cx="1874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8B8CC"/>
                </a:solidFill>
                <a:latin typeface="맑은 고딕"/>
              </a:defRPr>
            </a:pPr>
            <a:r>
              <a:t>AI 활용 업무 자동화</a:t>
            </a:r>
            <a:br/>
            <a:r>
              <a:t>(AX) 노하우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491472" y="5166360"/>
            <a:ext cx="548640" cy="256032"/>
          </a:xfrm>
          <a:prstGeom prst="round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491472" y="5175504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3585"/>
                </a:solidFill>
                <a:latin typeface="맑은 고딕"/>
              </a:defRPr>
            </a:pPr>
            <a:r>
              <a:t>3교시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491472" y="5458968"/>
            <a:ext cx="1874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8B8CC"/>
                </a:solidFill>
                <a:latin typeface="맑은 고딕"/>
              </a:defRPr>
            </a:pPr>
            <a:r>
              <a:t>사수 없는 주니어의</a:t>
            </a:r>
            <a:br/>
            <a:r>
              <a:t>GTM 면접 전략</a:t>
            </a:r>
          </a:p>
        </p:txBody>
      </p:sp>
    </p:spTree>
  </p:cSld>
  <p:clrMapOvr>
    <a:masterClrMapping/>
  </p:clrMapOvr>
  <p:transition spd="med">
    <p:fade thruBlk="0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1">
                <a:tint val="100000"/>
                <a:shade val="100000"/>
                <a:satMod val="130000"/>
              </a:schemeClr>
            </a:gs>
            <a:gs pos="100000">
              <a:schemeClr val="accent1">
                <a:tint val="50000"/>
                <a:shade val="100000"/>
                <a:satMod val="350000"/>
              </a:schemeClr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0" y="-914400"/>
            <a:ext cx="5486400" cy="5486400"/>
          </a:xfrm>
          <a:prstGeom prst="ellipse">
            <a:avLst/>
          </a:prstGeom>
          <a:solidFill>
            <a:srgbClr val="00D2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657600"/>
            <a:ext cx="3657600" cy="3657600"/>
          </a:xfrm>
          <a:prstGeom prst="ellipse">
            <a:avLst/>
          </a:prstGeom>
          <a:solidFill>
            <a:srgbClr val="0080CC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>
            <a:gsLst>
              <a:gs pos="0">
                <a:srgbClr val="00D2FF"/>
              </a:gs>
              <a:gs pos="100000">
                <a:srgbClr val="0080CC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00D2FF"/>
                </a:solidFill>
                <a:latin typeface="맑은 고딕"/>
              </a:defRPr>
            </a:pPr>
            <a:r>
              <a:t>Day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맑은 고딕"/>
              </a:defRPr>
            </a:pPr>
            <a:r>
              <a:t>IT 비즈니스의 뼈대와 GTM의 논리 이해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8B8CC"/>
                </a:solidFill>
                <a:latin typeface="맑은 고딕"/>
              </a:defRPr>
            </a:pPr>
            <a:r>
              <a:t>총 3시간  |  이론 + 라이브 데모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114800"/>
            <a:ext cx="3657600" cy="38100"/>
          </a:xfrm>
          <a:prstGeom prst="rect">
            <a:avLst/>
          </a:prstGeom>
          <a:gradFill>
            <a:gsLst>
              <a:gs pos="0">
                <a:srgbClr val="00D2FF"/>
              </a:gs>
              <a:gs pos="100000">
                <a:srgbClr val="0080CC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4572000"/>
            <a:ext cx="822960" cy="411480"/>
          </a:xfrm>
          <a:prstGeom prst="roundRect">
            <a:avLst/>
          </a:prstGeom>
          <a:solidFill>
            <a:srgbClr val="1C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6177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D2FF"/>
                </a:solidFill>
                <a:latin typeface="맑은 고딕"/>
              </a:defRPr>
            </a:pPr>
            <a:r>
              <a:t>1교시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61772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8CC"/>
                </a:solidFill>
                <a:latin typeface="맑은 고딕"/>
              </a:defRPr>
            </a:pPr>
            <a:r>
              <a:t>프로덕트 라이프사이클과 GTM의 역할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46177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70708C"/>
                </a:solidFill>
                <a:latin typeface="맑은 고딕"/>
              </a:defRPr>
            </a:pPr>
            <a:r>
              <a:t>50분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5212080"/>
            <a:ext cx="822960" cy="411480"/>
          </a:xfrm>
          <a:prstGeom prst="roundRect">
            <a:avLst/>
          </a:prstGeom>
          <a:solidFill>
            <a:srgbClr val="1C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25780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D2FF"/>
                </a:solidFill>
                <a:latin typeface="맑은 고딕"/>
              </a:defRPr>
            </a:pPr>
            <a:r>
              <a:t>2교시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525780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8CC"/>
                </a:solidFill>
                <a:latin typeface="맑은 고딕"/>
              </a:defRPr>
            </a:pPr>
            <a:r>
              <a:t>실패하는 GTM vs 성공하는 GTM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5257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70708C"/>
                </a:solidFill>
                <a:latin typeface="맑은 고딕"/>
              </a:defRPr>
            </a:pPr>
            <a:r>
              <a:t>50분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5852160"/>
            <a:ext cx="822960" cy="411480"/>
          </a:xfrm>
          <a:prstGeom prst="roundRect">
            <a:avLst/>
          </a:prstGeom>
          <a:solidFill>
            <a:srgbClr val="1C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8978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D2FF"/>
                </a:solidFill>
                <a:latin typeface="맑은 고딕"/>
              </a:defRPr>
            </a:pPr>
            <a:r>
              <a:t>3교시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589788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8CC"/>
                </a:solidFill>
                <a:latin typeface="맑은 고딕"/>
              </a:defRPr>
            </a:pPr>
            <a:r>
              <a:t>[라이브 데모] Gemini를 활용한 시장 리서치 효율화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58978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70708C"/>
                </a:solidFill>
                <a:latin typeface="맑은 고딕"/>
              </a:defRPr>
            </a:pPr>
            <a:r>
              <a:t>50분</a:t>
            </a:r>
          </a:p>
        </p:txBody>
      </p:sp>
    </p:spTree>
  </p:cSld>
  <p:clrMapOvr>
    <a:masterClrMapping/>
  </p:clrMapOvr>
  <p:transition spd="med">
    <p:fade thruBlk="0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1">
                <a:tint val="100000"/>
                <a:shade val="100000"/>
                <a:satMod val="130000"/>
              </a:schemeClr>
            </a:gs>
            <a:gs pos="100000">
              <a:schemeClr val="accent1">
                <a:tint val="50000"/>
                <a:shade val="100000"/>
                <a:satMod val="350000"/>
              </a:schemeClr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gradFill>
            <a:gsLst>
              <a:gs pos="0">
                <a:srgbClr val="141E38"/>
              </a:gs>
              <a:gs pos="100000">
                <a:srgbClr val="1C2844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gradFill>
            <a:gsLst>
              <a:gs pos="0">
                <a:srgbClr val="00D2FF"/>
              </a:gs>
              <a:gs pos="100000">
                <a:srgbClr val="0080CC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82880"/>
            <a:ext cx="1005840" cy="457200"/>
          </a:xfrm>
          <a:prstGeom prst="roundRect">
            <a:avLst/>
          </a:prstGeom>
          <a:solidFill>
            <a:srgbClr val="1C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D2FF"/>
                </a:solidFill>
                <a:latin typeface="맑은 고딕"/>
              </a:defRPr>
            </a:pPr>
            <a:r>
              <a:t>Day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FFFF"/>
                </a:solidFill>
                <a:latin typeface="맑은 고딕"/>
              </a:defRPr>
            </a:pPr>
            <a:r>
              <a:t>1교시: 프로덕트 라이프사이클과 GTM의 역할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2651760" cy="365760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2651760" cy="548640"/>
          </a:xfrm>
          <a:prstGeom prst="rect">
            <a:avLst/>
          </a:prstGeom>
          <a:gradFill>
            <a:gsLst>
              <a:gs pos="0">
                <a:srgbClr val="00D2FF"/>
              </a:gs>
              <a:gs pos="100000">
                <a:srgbClr val="00180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344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도입기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92024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50"/>
              </a:spcAft>
              <a:defRPr sz="1300" b="0" i="0">
                <a:solidFill>
                  <a:srgbClr val="B8B8CC"/>
                </a:solidFill>
                <a:latin typeface="맑은 고딕"/>
              </a:defRPr>
            </a:pPr>
            <a:r>
              <a:t>시장 진입</a:t>
            </a:r>
            <a:br/>
            <a:r>
              <a:t>인지도 구축</a:t>
            </a:r>
            <a:br/>
            <a:r>
              <a:t>초기 사용자 확보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474720"/>
            <a:ext cx="228600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6118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D2FF"/>
                </a:solidFill>
                <a:latin typeface="맑은 고딕"/>
              </a:defRPr>
            </a:pPr>
            <a:r>
              <a:t>사례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862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0708C"/>
                </a:solidFill>
                <a:latin typeface="맑은 고딕"/>
              </a:defRPr>
            </a:pPr>
            <a:r>
              <a:t>쿠팡이츠 초기 런칭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228600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70708C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1188720"/>
            <a:ext cx="2651760" cy="365760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7560" y="1188720"/>
            <a:ext cx="2651760" cy="548640"/>
          </a:xfrm>
          <a:prstGeom prst="rect">
            <a:avLst/>
          </a:prstGeom>
          <a:gradFill>
            <a:gsLst>
              <a:gs pos="0">
                <a:srgbClr val="7B2FF7"/>
              </a:gs>
              <a:gs pos="100000">
                <a:srgbClr val="7B17F7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37560" y="12344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성장기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192024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50"/>
              </a:spcAft>
              <a:defRPr sz="1300" b="0" i="0">
                <a:solidFill>
                  <a:srgbClr val="B8B8CC"/>
                </a:solidFill>
                <a:latin typeface="맑은 고딕"/>
              </a:defRPr>
            </a:pPr>
            <a:r>
              <a:t>사용자 급증</a:t>
            </a:r>
            <a:br/>
            <a:r>
              <a:t>시장 점유율 확대</a:t>
            </a:r>
            <a:br/>
            <a:r>
              <a:t>수익 모델 안정화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20440" y="3474720"/>
            <a:ext cx="2286000" cy="25400"/>
          </a:xfrm>
          <a:prstGeom prst="rect">
            <a:avLst/>
          </a:prstGeom>
          <a:solidFill>
            <a:srgbClr val="7B2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20440" y="36118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7B2FF7"/>
                </a:solidFill>
                <a:latin typeface="맑은 고딕"/>
              </a:defRPr>
            </a:pPr>
            <a:r>
              <a:t>사례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38862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0708C"/>
                </a:solidFill>
                <a:latin typeface="맑은 고딕"/>
              </a:defRPr>
            </a:pPr>
            <a:r>
              <a:t>당근마켓 전국 확장기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228600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70708C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188720"/>
            <a:ext cx="2651760" cy="365760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188720"/>
            <a:ext cx="2651760" cy="548640"/>
          </a:xfrm>
          <a:prstGeom prst="rect">
            <a:avLst/>
          </a:prstGeom>
          <a:gradFill>
            <a:gsLst>
              <a:gs pos="0">
                <a:srgbClr val="FF6B35"/>
              </a:gs>
              <a:gs pos="100000">
                <a:srgbClr val="FF7735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2344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성숙기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92024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50"/>
              </a:spcAft>
              <a:defRPr sz="1300" b="0" i="0">
                <a:solidFill>
                  <a:srgbClr val="B8B8CC"/>
                </a:solidFill>
                <a:latin typeface="맑은 고딕"/>
              </a:defRPr>
            </a:pPr>
            <a:r>
              <a:t>성장 둔화</a:t>
            </a:r>
            <a:br/>
            <a:r>
              <a:t>경쟁 심화</a:t>
            </a:r>
            <a:br/>
            <a:r>
              <a:t>차별화 필요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3474720"/>
            <a:ext cx="2286000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6118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6B35"/>
                </a:solidFill>
                <a:latin typeface="맑은 고딕"/>
              </a:defRPr>
            </a:pPr>
            <a:r>
              <a:t>사례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8862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0708C"/>
                </a:solidFill>
                <a:latin typeface="맑은 고딕"/>
              </a:defRPr>
            </a:pPr>
            <a:r>
              <a:t>배달의민족 현재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69680" y="2286000"/>
            <a:ext cx="228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70708C"/>
                </a:solidFill>
                <a:latin typeface="맑은 고딕"/>
              </a:defRPr>
            </a:pPr>
            <a: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98280" y="1188720"/>
            <a:ext cx="2651760" cy="365760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98280" y="1188720"/>
            <a:ext cx="2651760" cy="548640"/>
          </a:xfrm>
          <a:prstGeom prst="rect">
            <a:avLst/>
          </a:prstGeom>
          <a:gradFill>
            <a:gsLst>
              <a:gs pos="0">
                <a:srgbClr val="FF3585"/>
              </a:gs>
              <a:gs pos="100000">
                <a:srgbClr val="FF2385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98280" y="12344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쇠퇴기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81160" y="192024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50"/>
              </a:spcAft>
              <a:defRPr sz="1300" b="0" i="0">
                <a:solidFill>
                  <a:srgbClr val="B8B8CC"/>
                </a:solidFill>
                <a:latin typeface="맑은 고딕"/>
              </a:defRPr>
            </a:pPr>
            <a:r>
              <a:t>사용자 이탈</a:t>
            </a:r>
            <a:br/>
            <a:r>
              <a:t>대체 서비스 등장</a:t>
            </a:r>
            <a:br/>
            <a:r>
              <a:t>피벗 또는 종료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81160" y="3474720"/>
            <a:ext cx="2286000" cy="25400"/>
          </a:xfrm>
          <a:prstGeom prst="rect">
            <a:avLst/>
          </a:prstGeom>
          <a:solidFill>
            <a:srgbClr val="FF3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81160" y="36118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3585"/>
                </a:solidFill>
                <a:latin typeface="맑은 고딕"/>
              </a:defRPr>
            </a:pPr>
            <a:r>
              <a:t>사례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81160" y="38862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0708C"/>
                </a:solidFill>
                <a:latin typeface="맑은 고딕"/>
              </a:defRPr>
            </a:pPr>
            <a:r>
              <a:t>싸이월드 (과거)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5120640"/>
            <a:ext cx="11247120" cy="137160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212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50"/>
              </a:spcAft>
              <a:defRPr sz="1600" b="1" i="0">
                <a:solidFill>
                  <a:srgbClr val="00D2FF"/>
                </a:solidFill>
                <a:latin typeface="맑은 고딕"/>
              </a:defRPr>
            </a:pPr>
            <a:r>
              <a:t>GTM이 가장 중요한 시점</a:t>
            </a:r>
          </a:p>
          <a:p>
            <a:pPr>
              <a:spcAft>
                <a:spcPts val="650"/>
              </a:spcAft>
              <a:defRPr sz="1400" b="0" i="0">
                <a:solidFill>
                  <a:srgbClr val="B8B8CC"/>
                </a:solidFill>
                <a:latin typeface="맑은 고딕"/>
              </a:defRPr>
            </a:pPr>
            <a:r>
              <a:t>도입기: 시장에 처음 진입할 때  |  성장기 초반: 본격적으로 확장할 때  |  성숙기: 새로운 시장/기능으로 확장할 때</a:t>
            </a:r>
          </a:p>
        </p:txBody>
      </p:sp>
    </p:spTree>
  </p:cSld>
  <p:clrMapOvr>
    <a:masterClrMapping/>
  </p:clrMapOvr>
  <p:transition spd="med">
    <p:fade thruBlk="0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1">
                <a:tint val="100000"/>
                <a:shade val="100000"/>
                <a:satMod val="130000"/>
              </a:schemeClr>
            </a:gs>
            <a:gs pos="100000">
              <a:schemeClr val="accent1">
                <a:tint val="50000"/>
                <a:shade val="100000"/>
                <a:satMod val="350000"/>
              </a:schemeClr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gradFill>
            <a:gsLst>
              <a:gs pos="0">
                <a:srgbClr val="141E38"/>
              </a:gs>
              <a:gs pos="100000">
                <a:srgbClr val="1C2844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gradFill>
            <a:gsLst>
              <a:gs pos="0">
                <a:srgbClr val="00D2FF"/>
              </a:gs>
              <a:gs pos="100000">
                <a:srgbClr val="0080CC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82880"/>
            <a:ext cx="1005840" cy="457200"/>
          </a:xfrm>
          <a:prstGeom prst="roundRect">
            <a:avLst/>
          </a:prstGeom>
          <a:solidFill>
            <a:srgbClr val="1C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D2FF"/>
                </a:solidFill>
                <a:latin typeface="맑은 고딕"/>
              </a:defRPr>
            </a:pPr>
            <a:r>
              <a:t>Day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FFFF"/>
                </a:solidFill>
                <a:latin typeface="맑은 고딕"/>
              </a:defRPr>
            </a:pPr>
            <a:r>
              <a:t>1교시: GTM 전략이란 무엇인가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1247120" cy="640080"/>
          </a:xfrm>
          <a:prstGeom prst="round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170432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D2FF"/>
                </a:solidFill>
                <a:latin typeface="맑은 고딕"/>
              </a:defRPr>
            </a:pPr>
            <a:r>
              <a:t>"만든 제품을 어떻게 시장에 내놓고, 고객에게 전달할 것인가"에 대한 종합 전략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20240"/>
            <a:ext cx="6858000" cy="77724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1463040" cy="548640"/>
          </a:xfrm>
          <a:prstGeom prst="roundRect">
            <a:avLst/>
          </a:prstGeom>
          <a:gradFill>
            <a:gsLst>
              <a:gs pos="0">
                <a:srgbClr val="00D2FF"/>
              </a:gs>
              <a:gs pos="100000">
                <a:srgbClr val="0080CC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029968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Who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20116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타겟 고객 정의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30428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8B8CC"/>
                </a:solidFill>
                <a:latin typeface="맑은 고딕"/>
              </a:defRPr>
            </a:pPr>
            <a:r>
              <a:t>누구에게 팔 것인가?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2103120"/>
            <a:ext cx="1097280" cy="365760"/>
          </a:xfrm>
          <a:prstGeom prst="round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212140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D2FF"/>
                </a:solidFill>
                <a:latin typeface="맑은 고딕"/>
              </a:defRPr>
            </a:pPr>
            <a:r>
              <a:t>Day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834640"/>
            <a:ext cx="6858000" cy="77724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2926080"/>
            <a:ext cx="1463040" cy="548640"/>
          </a:xfrm>
          <a:prstGeom prst="roundRect">
            <a:avLst/>
          </a:prstGeom>
          <a:gradFill>
            <a:gsLst>
              <a:gs pos="0">
                <a:srgbClr val="7B2FF7"/>
              </a:gs>
              <a:gs pos="100000">
                <a:srgbClr val="5A1FBB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944368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What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29260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가치 제안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86000" y="321868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8B8CC"/>
                </a:solidFill>
                <a:latin typeface="맑은 고딕"/>
              </a:defRPr>
            </a:pPr>
            <a:r>
              <a:t>왜 우리 제품을 써야 하는가?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0" y="3017520"/>
            <a:ext cx="1097280" cy="365760"/>
          </a:xfrm>
          <a:prstGeom prst="round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0" y="303580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7B2FF7"/>
                </a:solidFill>
                <a:latin typeface="맑은 고딕"/>
              </a:defRPr>
            </a:pPr>
            <a:r>
              <a:t>Day 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749040"/>
            <a:ext cx="6858000" cy="77724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3840480"/>
            <a:ext cx="1463040" cy="548640"/>
          </a:xfrm>
          <a:prstGeom prst="roundRect">
            <a:avLst/>
          </a:prstGeom>
          <a:gradFill>
            <a:gsLst>
              <a:gs pos="0">
                <a:srgbClr val="FF6B35"/>
              </a:gs>
              <a:gs pos="100000">
                <a:srgbClr val="CC4400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858768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Where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38404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채널 전략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0" y="413308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8B8CC"/>
                </a:solidFill>
                <a:latin typeface="맑은 고딕"/>
              </a:defRPr>
            </a:pPr>
            <a:r>
              <a:t>어디서 고객을 만날 것인가?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3931920"/>
            <a:ext cx="1097280" cy="365760"/>
          </a:xfrm>
          <a:prstGeom prst="round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0" y="395020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6B35"/>
                </a:solidFill>
                <a:latin typeface="맑은 고딕"/>
              </a:defRPr>
            </a:pPr>
            <a:r>
              <a:t>Day 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663440"/>
            <a:ext cx="6858000" cy="77724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40080" y="4754880"/>
            <a:ext cx="1463040" cy="548640"/>
          </a:xfrm>
          <a:prstGeom prst="roundRect">
            <a:avLst/>
          </a:prstGeom>
          <a:gradFill>
            <a:gsLst>
              <a:gs pos="0">
                <a:srgbClr val="00E696"/>
              </a:gs>
              <a:gs pos="100000">
                <a:srgbClr val="00AA6E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4773168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How to</a:t>
            </a:r>
            <a:br/>
            <a:r>
              <a:t>Communicate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86000" y="47548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메시징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86000" y="504748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8B8CC"/>
                </a:solidFill>
                <a:latin typeface="맑은 고딕"/>
              </a:defRPr>
            </a:pPr>
            <a:r>
              <a:t>어떤 말로 전달할 것인가?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0" y="4846320"/>
            <a:ext cx="1097280" cy="365760"/>
          </a:xfrm>
          <a:prstGeom prst="round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0" y="486460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E696"/>
                </a:solidFill>
                <a:latin typeface="맑은 고딕"/>
              </a:defRPr>
            </a:pPr>
            <a:r>
              <a:t>Day 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5577840"/>
            <a:ext cx="6858000" cy="77724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40080" y="5669280"/>
            <a:ext cx="1463040" cy="548640"/>
          </a:xfrm>
          <a:prstGeom prst="roundRect">
            <a:avLst/>
          </a:prstGeom>
          <a:gradFill>
            <a:gsLst>
              <a:gs pos="0">
                <a:srgbClr val="FF3585"/>
              </a:gs>
              <a:gs pos="100000">
                <a:srgbClr val="CC1A66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5687568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How to</a:t>
            </a:r>
            <a:br/>
            <a:r>
              <a:t>Measure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86000" y="56692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성과 지표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286000" y="596188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8B8CC"/>
                </a:solidFill>
                <a:latin typeface="맑은 고딕"/>
              </a:defRPr>
            </a:pPr>
            <a:r>
              <a:t>성공을 어떻게 측정할 것인가?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0" y="5760720"/>
            <a:ext cx="1097280" cy="365760"/>
          </a:xfrm>
          <a:prstGeom prst="round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0" y="577900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3585"/>
                </a:solidFill>
                <a:latin typeface="맑은 고딕"/>
              </a:defRPr>
            </a:pPr>
            <a:r>
              <a:t>Day 4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772400" y="1920240"/>
            <a:ext cx="3931920" cy="457200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46720" y="21031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2FF"/>
                </a:solidFill>
                <a:latin typeface="맑은 고딕"/>
              </a:defRPr>
            </a:pPr>
            <a:r>
              <a:t>GTM ≠ 마케팅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46720" y="2560320"/>
            <a:ext cx="1828800" cy="25400"/>
          </a:xfrm>
          <a:prstGeom prst="rect">
            <a:avLst/>
          </a:prstGeom>
          <a:gradFill>
            <a:gsLst>
              <a:gs pos="0">
                <a:srgbClr val="00D2FF"/>
              </a:gs>
              <a:gs pos="100000">
                <a:srgbClr val="7B2FF7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46720" y="2834640"/>
            <a:ext cx="3383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50"/>
              </a:spcAft>
              <a:defRPr sz="1400" b="1" i="0">
                <a:solidFill>
                  <a:srgbClr val="FFFFFF"/>
                </a:solidFill>
                <a:latin typeface="맑은 고딕"/>
              </a:defRPr>
            </a:pPr>
            <a:r>
              <a:t>GTM은 마케팅을 포함하는 상위 개념</a:t>
            </a:r>
          </a:p>
          <a:p>
            <a:pPr>
              <a:spcAft>
                <a:spcPts val="650"/>
              </a:spcAft>
              <a:defRPr sz="1500">
                <a:solidFill>
                  <a:srgbClr val="B8B8CC"/>
                </a:solidFill>
                <a:latin typeface="맑은 고딕"/>
              </a:defRPr>
            </a:pPr>
          </a:p>
          <a:p>
            <a:pPr>
              <a:spcAft>
                <a:spcPts val="650"/>
              </a:spcAft>
              <a:defRPr sz="1300" b="1" i="0">
                <a:solidFill>
                  <a:srgbClr val="00D2FF"/>
                </a:solidFill>
                <a:latin typeface="맑은 고딕"/>
              </a:defRPr>
            </a:pPr>
            <a:r>
              <a:t>GTM 전략 (상위)</a:t>
            </a:r>
          </a:p>
          <a:p>
            <a:pPr>
              <a:spcAft>
                <a:spcPts val="650"/>
              </a:spcAft>
              <a:defRPr sz="1200" b="0" i="0">
                <a:solidFill>
                  <a:srgbClr val="B8B8CC"/>
                </a:solidFill>
                <a:latin typeface="맑은 고딕"/>
              </a:defRPr>
            </a:pPr>
            <a:r>
              <a:t>  · 타겟 고객 정의</a:t>
            </a:r>
          </a:p>
          <a:p>
            <a:pPr>
              <a:spcAft>
                <a:spcPts val="650"/>
              </a:spcAft>
              <a:defRPr sz="1200" b="0" i="0">
                <a:solidFill>
                  <a:srgbClr val="B8B8CC"/>
                </a:solidFill>
                <a:latin typeface="맑은 고딕"/>
              </a:defRPr>
            </a:pPr>
            <a:r>
              <a:t>  · 가치 제안 수립</a:t>
            </a:r>
          </a:p>
          <a:p>
            <a:pPr>
              <a:spcAft>
                <a:spcPts val="650"/>
              </a:spcAft>
              <a:defRPr sz="1200" b="0" i="0">
                <a:solidFill>
                  <a:srgbClr val="B8B8CC"/>
                </a:solidFill>
                <a:latin typeface="맑은 고딕"/>
              </a:defRPr>
            </a:pPr>
            <a:r>
              <a:t>  · 채널 &amp; 메시징 전략</a:t>
            </a:r>
          </a:p>
          <a:p>
            <a:pPr>
              <a:spcAft>
                <a:spcPts val="650"/>
              </a:spcAft>
              <a:defRPr sz="1200" b="0" i="0">
                <a:solidFill>
                  <a:srgbClr val="B8B8CC"/>
                </a:solidFill>
                <a:latin typeface="맑은 고딕"/>
              </a:defRPr>
            </a:pPr>
            <a:r>
              <a:t>  · 성과 측정 &amp; 개선</a:t>
            </a:r>
          </a:p>
          <a:p>
            <a:pPr>
              <a:spcAft>
                <a:spcPts val="650"/>
              </a:spcAft>
              <a:defRPr sz="1500">
                <a:solidFill>
                  <a:srgbClr val="B8B8CC"/>
                </a:solidFill>
                <a:latin typeface="맑은 고딕"/>
              </a:defRPr>
            </a:pPr>
          </a:p>
          <a:p>
            <a:pPr>
              <a:spcAft>
                <a:spcPts val="650"/>
              </a:spcAft>
              <a:defRPr sz="1300" b="1" i="0">
                <a:solidFill>
                  <a:srgbClr val="7B2FF7"/>
                </a:solidFill>
                <a:latin typeface="맑은 고딕"/>
              </a:defRPr>
            </a:pPr>
            <a:r>
              <a:t>마케팅 (하위)</a:t>
            </a:r>
          </a:p>
          <a:p>
            <a:pPr>
              <a:spcAft>
                <a:spcPts val="650"/>
              </a:spcAft>
              <a:defRPr sz="1200" b="0" i="0">
                <a:solidFill>
                  <a:srgbClr val="B8B8CC"/>
                </a:solidFill>
                <a:latin typeface="맑은 고딕"/>
              </a:defRPr>
            </a:pPr>
            <a:r>
              <a:t>  · 광고, 콘텐츠, SNS 운영 등</a:t>
            </a:r>
          </a:p>
          <a:p>
            <a:pPr>
              <a:spcAft>
                <a:spcPts val="650"/>
              </a:spcAft>
              <a:defRPr sz="1200" b="0" i="0">
                <a:solidFill>
                  <a:srgbClr val="B8B8CC"/>
                </a:solidFill>
                <a:latin typeface="맑은 고딕"/>
              </a:defRPr>
            </a:pPr>
            <a:r>
              <a:t>  · GTM 전략의 실행 도구</a:t>
            </a:r>
          </a:p>
        </p:txBody>
      </p:sp>
    </p:spTree>
  </p:cSld>
  <p:clrMapOvr>
    <a:masterClrMapping/>
  </p:clrMapOvr>
  <p:transition spd="med">
    <p:fade thruBlk="0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1">
                <a:tint val="100000"/>
                <a:shade val="100000"/>
                <a:satMod val="130000"/>
              </a:schemeClr>
            </a:gs>
            <a:gs pos="100000">
              <a:schemeClr val="accent1">
                <a:tint val="50000"/>
                <a:shade val="100000"/>
                <a:satMod val="350000"/>
              </a:schemeClr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gradFill>
            <a:gsLst>
              <a:gs pos="0">
                <a:srgbClr val="141E38"/>
              </a:gs>
              <a:gs pos="100000">
                <a:srgbClr val="1C2844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gradFill>
            <a:gsLst>
              <a:gs pos="0">
                <a:srgbClr val="00D2FF"/>
              </a:gs>
              <a:gs pos="100000">
                <a:srgbClr val="0080CC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82880"/>
            <a:ext cx="1005840" cy="457200"/>
          </a:xfrm>
          <a:prstGeom prst="roundRect">
            <a:avLst/>
          </a:prstGeom>
          <a:solidFill>
            <a:srgbClr val="1C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D2FF"/>
                </a:solidFill>
                <a:latin typeface="맑은 고딕"/>
              </a:defRPr>
            </a:pPr>
            <a:r>
              <a:t>Day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FFFF"/>
                </a:solidFill>
                <a:latin typeface="맑은 고딕"/>
              </a:defRPr>
            </a:pPr>
            <a:r>
              <a:t>2교시: 실패하는 GTM vs 성공하는 GTM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97280"/>
            <a:ext cx="5303520" cy="530352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097280"/>
            <a:ext cx="5303520" cy="548640"/>
          </a:xfrm>
          <a:prstGeom prst="rect">
            <a:avLst/>
          </a:prstGeom>
          <a:gradFill>
            <a:gsLst>
              <a:gs pos="0">
                <a:srgbClr val="FF3585"/>
              </a:gs>
              <a:gs pos="100000">
                <a:srgbClr val="CC1A66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실패하는 GTM의 패턴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50"/>
              </a:spcAft>
              <a:defRPr sz="1500" b="1" i="0">
                <a:solidFill>
                  <a:srgbClr val="FF3585"/>
                </a:solidFill>
                <a:latin typeface="맑은 고딕"/>
              </a:defRPr>
            </a:pPr>
            <a:r>
              <a:t>직관에 의존</a:t>
            </a:r>
          </a:p>
          <a:p>
            <a:pPr>
              <a:spcAft>
                <a:spcPts val="650"/>
              </a:spcAft>
              <a:defRPr sz="1200" b="0" i="1">
                <a:solidFill>
                  <a:srgbClr val="B8B8CC"/>
                </a:solidFill>
                <a:latin typeface="맑은 고딕"/>
              </a:defRPr>
            </a:pPr>
            <a:r>
              <a:t>"우리 제품은 모든 사람에게 필요해"</a:t>
            </a:r>
          </a:p>
          <a:p>
            <a:pPr>
              <a:spcAft>
                <a:spcPts val="650"/>
              </a:spcAft>
              <a:defRPr sz="1200" b="0" i="0">
                <a:solidFill>
                  <a:srgbClr val="70708C"/>
                </a:solidFill>
                <a:latin typeface="맑은 고딕"/>
              </a:defRPr>
            </a:pPr>
            <a:r>
              <a:t>→ 타겟 불명확, 메시지 분산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2608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50"/>
              </a:spcAft>
              <a:defRPr sz="1500" b="1" i="0">
                <a:solidFill>
                  <a:srgbClr val="FF3585"/>
                </a:solidFill>
                <a:latin typeface="맑은 고딕"/>
              </a:defRPr>
            </a:pPr>
            <a:r>
              <a:t>고객 관점 부재</a:t>
            </a:r>
          </a:p>
          <a:p>
            <a:pPr>
              <a:spcAft>
                <a:spcPts val="650"/>
              </a:spcAft>
              <a:defRPr sz="1200" b="0" i="1">
                <a:solidFill>
                  <a:srgbClr val="B8B8CC"/>
                </a:solidFill>
                <a:latin typeface="맑은 고딕"/>
              </a:defRPr>
            </a:pPr>
            <a:r>
              <a:t>"이 기능이 좋으니까 당연히 잘 될 거야"</a:t>
            </a:r>
          </a:p>
          <a:p>
            <a:pPr>
              <a:spcAft>
                <a:spcPts val="650"/>
              </a:spcAft>
              <a:defRPr sz="1200" b="0" i="0">
                <a:solidFill>
                  <a:srgbClr val="70708C"/>
                </a:solidFill>
                <a:latin typeface="맑은 고딕"/>
              </a:defRPr>
            </a:pPr>
            <a:r>
              <a:t>→ 기능 자랑 ≠ 고객 가치 전달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2336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50"/>
              </a:spcAft>
              <a:defRPr sz="1500" b="1" i="0">
                <a:solidFill>
                  <a:srgbClr val="FF3585"/>
                </a:solidFill>
                <a:latin typeface="맑은 고딕"/>
              </a:defRPr>
            </a:pPr>
            <a:r>
              <a:t>채널 미스매치</a:t>
            </a:r>
          </a:p>
          <a:p>
            <a:pPr>
              <a:spcAft>
                <a:spcPts val="650"/>
              </a:spcAft>
              <a:defRPr sz="1200" b="0" i="1">
                <a:solidFill>
                  <a:srgbClr val="B8B8CC"/>
                </a:solidFill>
                <a:latin typeface="맑은 고딕"/>
              </a:defRPr>
            </a:pPr>
            <a:r>
              <a:t>B2B 제품인데 인스타그램 올인</a:t>
            </a:r>
          </a:p>
          <a:p>
            <a:pPr>
              <a:spcAft>
                <a:spcPts val="650"/>
              </a:spcAft>
              <a:defRPr sz="1200" b="0" i="0">
                <a:solidFill>
                  <a:srgbClr val="70708C"/>
                </a:solidFill>
                <a:latin typeface="맑은 고딕"/>
              </a:defRPr>
            </a:pPr>
            <a:r>
              <a:t>→ 고객이 없는 곳에서 마케팅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12064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50"/>
              </a:spcAft>
              <a:defRPr sz="1500" b="1" i="0">
                <a:solidFill>
                  <a:srgbClr val="FF3585"/>
                </a:solidFill>
                <a:latin typeface="맑은 고딕"/>
              </a:defRPr>
            </a:pPr>
            <a:r>
              <a:t>데이터 무시</a:t>
            </a:r>
          </a:p>
          <a:p>
            <a:pPr>
              <a:spcAft>
                <a:spcPts val="650"/>
              </a:spcAft>
              <a:defRPr sz="1200" b="0" i="1">
                <a:solidFill>
                  <a:srgbClr val="B8B8CC"/>
                </a:solidFill>
                <a:latin typeface="맑은 고딕"/>
              </a:defRPr>
            </a:pPr>
            <a:r>
              <a:t>"지표? 나중에 보면 되지"</a:t>
            </a:r>
          </a:p>
          <a:p>
            <a:pPr>
              <a:spcAft>
                <a:spcPts val="650"/>
              </a:spcAft>
              <a:defRPr sz="1200" b="0" i="0">
                <a:solidFill>
                  <a:srgbClr val="70708C"/>
                </a:solidFill>
                <a:latin typeface="맑은 고딕"/>
              </a:defRPr>
            </a:pPr>
            <a:r>
              <a:t>→ 개선 기회를 놓치고 방향 상실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0" y="1097280"/>
            <a:ext cx="5303520" cy="530352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92240" y="1097280"/>
            <a:ext cx="5303520" cy="548640"/>
          </a:xfrm>
          <a:prstGeom prst="rect">
            <a:avLst/>
          </a:prstGeom>
          <a:gradFill>
            <a:gsLst>
              <a:gs pos="0">
                <a:srgbClr val="00E696"/>
              </a:gs>
              <a:gs pos="100000">
                <a:srgbClr val="00AA6E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1430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성공하는 GTM의 원리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1828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E696"/>
                </a:solidFill>
                <a:latin typeface="맑은 고딕"/>
              </a:defRPr>
            </a:pPr>
            <a:r>
              <a:t>가설 검증 사이클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66560" y="2194560"/>
            <a:ext cx="1828800" cy="25400"/>
          </a:xfrm>
          <a:prstGeom prst="rect">
            <a:avLst/>
          </a:prstGeom>
          <a:gradFill>
            <a:gsLst>
              <a:gs pos="0">
                <a:srgbClr val="00E696"/>
              </a:gs>
              <a:gs pos="100000">
                <a:srgbClr val="00AA6E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766560" y="2468880"/>
            <a:ext cx="365760" cy="365760"/>
          </a:xfrm>
          <a:prstGeom prst="ellipse">
            <a:avLst/>
          </a:prstGeom>
          <a:gradFill>
            <a:gsLst>
              <a:gs pos="0">
                <a:srgbClr val="00E696"/>
              </a:gs>
              <a:gs pos="100000">
                <a:srgbClr val="00AA6E"/>
              </a:gs>
            </a:gsLst>
            <a:lin ang="81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249631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가설 수립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9480" y="276148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8B8CC"/>
                </a:solidFill>
                <a:latin typeface="맑은 고딕"/>
              </a:defRPr>
            </a:pPr>
            <a:r>
              <a:t>"타겟은 20대 직장인, 핵심 페인포인트는 ○○"</a:t>
            </a:r>
          </a:p>
        </p:txBody>
      </p:sp>
      <p:sp>
        <p:nvSpPr>
          <p:cNvPr id="23" name="Oval 22"/>
          <p:cNvSpPr/>
          <p:nvPr/>
        </p:nvSpPr>
        <p:spPr>
          <a:xfrm>
            <a:off x="6766560" y="3383280"/>
            <a:ext cx="365760" cy="365760"/>
          </a:xfrm>
          <a:prstGeom prst="ellipse">
            <a:avLst/>
          </a:prstGeom>
          <a:gradFill>
            <a:gsLst>
              <a:gs pos="0">
                <a:srgbClr val="00E696"/>
              </a:gs>
              <a:gs pos="100000">
                <a:srgbClr val="00AA6E"/>
              </a:gs>
            </a:gsLst>
            <a:lin ang="81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0" y="341071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69480" y="33832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데이터 수집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9480" y="367588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8B8CC"/>
                </a:solidFill>
                <a:latin typeface="맑은 고딕"/>
              </a:defRPr>
            </a:pPr>
            <a:r>
              <a:t>측정 가능한 형태로 데이터 확보</a:t>
            </a:r>
          </a:p>
        </p:txBody>
      </p:sp>
      <p:sp>
        <p:nvSpPr>
          <p:cNvPr id="27" name="Oval 26"/>
          <p:cNvSpPr/>
          <p:nvPr/>
        </p:nvSpPr>
        <p:spPr>
          <a:xfrm>
            <a:off x="6766560" y="4297680"/>
            <a:ext cx="365760" cy="365760"/>
          </a:xfrm>
          <a:prstGeom prst="ellipse">
            <a:avLst/>
          </a:prstGeom>
          <a:gradFill>
            <a:gsLst>
              <a:gs pos="0">
                <a:srgbClr val="00E696"/>
              </a:gs>
              <a:gs pos="100000">
                <a:srgbClr val="00AA6E"/>
              </a:gs>
            </a:gsLst>
            <a:lin ang="81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0" y="432511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9480" y="42976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분석 &amp; 검증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9480" y="459028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8B8CC"/>
                </a:solidFill>
                <a:latin typeface="맑은 고딕"/>
              </a:defRPr>
            </a:pPr>
            <a:r>
              <a:t>"이 지표가 N% 이상이면 유효하다"</a:t>
            </a:r>
          </a:p>
        </p:txBody>
      </p:sp>
      <p:sp>
        <p:nvSpPr>
          <p:cNvPr id="31" name="Oval 30"/>
          <p:cNvSpPr/>
          <p:nvPr/>
        </p:nvSpPr>
        <p:spPr>
          <a:xfrm>
            <a:off x="6766560" y="5212080"/>
            <a:ext cx="365760" cy="365760"/>
          </a:xfrm>
          <a:prstGeom prst="ellipse">
            <a:avLst/>
          </a:prstGeom>
          <a:gradFill>
            <a:gsLst>
              <a:gs pos="0">
                <a:srgbClr val="00E696"/>
              </a:gs>
              <a:gs pos="100000">
                <a:srgbClr val="00AA6E"/>
              </a:gs>
            </a:gsLst>
            <a:lin ang="81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66560" y="5239512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9480" y="5212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개선 &amp; 반복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69480" y="550468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8B8CC"/>
                </a:solidFill>
                <a:latin typeface="맑은 고딕"/>
              </a:defRPr>
            </a:pPr>
            <a:r>
              <a:t>검증 결과 기반으로 전략 수정</a:t>
            </a:r>
          </a:p>
        </p:txBody>
      </p:sp>
    </p:spTree>
  </p:cSld>
  <p:clrMapOvr>
    <a:masterClrMapping/>
  </p:clrMapOvr>
  <p:transition spd="med">
    <p:fade thruBlk="0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1">
                <a:tint val="100000"/>
                <a:shade val="100000"/>
                <a:satMod val="130000"/>
              </a:schemeClr>
            </a:gs>
            <a:gs pos="100000">
              <a:schemeClr val="accent1">
                <a:tint val="50000"/>
                <a:shade val="100000"/>
                <a:satMod val="350000"/>
              </a:schemeClr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gradFill>
            <a:gsLst>
              <a:gs pos="0">
                <a:srgbClr val="141E38"/>
              </a:gs>
              <a:gs pos="100000">
                <a:srgbClr val="1C2844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gradFill>
            <a:gsLst>
              <a:gs pos="0">
                <a:srgbClr val="00D2FF"/>
              </a:gs>
              <a:gs pos="100000">
                <a:srgbClr val="0080CC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82880"/>
            <a:ext cx="1005840" cy="457200"/>
          </a:xfrm>
          <a:prstGeom prst="roundRect">
            <a:avLst/>
          </a:prstGeom>
          <a:solidFill>
            <a:srgbClr val="1C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D2FF"/>
                </a:solidFill>
                <a:latin typeface="맑은 고딕"/>
              </a:defRPr>
            </a:pPr>
            <a:r>
              <a:t>Day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FFFF"/>
                </a:solidFill>
                <a:latin typeface="맑은 고딕"/>
              </a:defRPr>
            </a:pPr>
            <a:r>
              <a:t>2교시: 데이터 리터러시의 기초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1247120" cy="731520"/>
          </a:xfrm>
          <a:prstGeom prst="round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1430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50"/>
              </a:spcAft>
              <a:defRPr sz="1700" b="1" i="0">
                <a:solidFill>
                  <a:srgbClr val="00D2FF"/>
                </a:solidFill>
                <a:latin typeface="맑은 고딕"/>
              </a:defRPr>
            </a:pPr>
            <a:r>
              <a:t>데이터 리터러시 = 데이터를 읽고, 해석하고, 의사결정에 활용하는 능력</a:t>
            </a:r>
          </a:p>
          <a:p>
            <a:pPr>
              <a:spcAft>
                <a:spcPts val="650"/>
              </a:spcAft>
              <a:defRPr sz="1300" b="0" i="0">
                <a:solidFill>
                  <a:srgbClr val="B8B8CC"/>
                </a:solidFill>
                <a:latin typeface="맑은 고딕"/>
              </a:defRPr>
            </a:pPr>
            <a:r>
              <a:t>코딩이나 통계 전문 지식이 아님  →  "이 숫자가 의미하는 바를 해석하고, 다음 액션을 제안하는 것"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6858000" cy="54864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103120"/>
            <a:ext cx="50800" cy="54864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1945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2FF"/>
                </a:solidFill>
                <a:latin typeface="맑은 고딕"/>
              </a:defRPr>
            </a:pPr>
            <a:r>
              <a:t>DAU/MAU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21945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맑은 고딕"/>
              </a:defRPr>
            </a:pPr>
            <a:r>
              <a:t>일간/월간 활성 사용자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1945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8CC"/>
                </a:solidFill>
                <a:latin typeface="맑은 고딕"/>
              </a:defRPr>
            </a:pPr>
            <a:r>
              <a:t>→ 서비스의 전반적 활성도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788920"/>
            <a:ext cx="6858000" cy="54864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788920"/>
            <a:ext cx="50800" cy="548640"/>
          </a:xfrm>
          <a:prstGeom prst="rect">
            <a:avLst/>
          </a:prstGeom>
          <a:solidFill>
            <a:srgbClr val="7B2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880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B2FF7"/>
                </a:solidFill>
                <a:latin typeface="맑은 고딕"/>
              </a:defRPr>
            </a:pPr>
            <a:r>
              <a:t>전환율(CVR)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880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맑은 고딕"/>
              </a:defRPr>
            </a:pPr>
            <a:r>
              <a:t>특정 행동을 완료한 비율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8803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8CC"/>
                </a:solidFill>
                <a:latin typeface="맑은 고딕"/>
              </a:defRPr>
            </a:pPr>
            <a:r>
              <a:t>→ 퍼널의 효율성 판단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474720"/>
            <a:ext cx="6858000" cy="54864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474720"/>
            <a:ext cx="50800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5661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35"/>
                </a:solidFill>
                <a:latin typeface="맑은 고딕"/>
              </a:defRPr>
            </a:pPr>
            <a:r>
              <a:t>이탈률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3566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맑은 고딕"/>
              </a:defRPr>
            </a:pPr>
            <a:r>
              <a:t>서비스를 떠난 사용자 비율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35661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8CC"/>
                </a:solidFill>
                <a:latin typeface="맑은 고딕"/>
              </a:defRPr>
            </a:pPr>
            <a:r>
              <a:t>→ 문제 지점 파악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160520"/>
            <a:ext cx="6858000" cy="54864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160520"/>
            <a:ext cx="50800" cy="54864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2519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E696"/>
                </a:solidFill>
                <a:latin typeface="맑은 고딕"/>
              </a:defRPr>
            </a:pPr>
            <a:r>
              <a:t>리텐션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0" y="4251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맑은 고딕"/>
              </a:defRPr>
            </a:pPr>
            <a:r>
              <a:t>재방문/재사용 비율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425196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8CC"/>
                </a:solidFill>
                <a:latin typeface="맑은 고딕"/>
              </a:defRPr>
            </a:pPr>
            <a:r>
              <a:t>→ 서비스의 지속적 가치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0" y="2103120"/>
            <a:ext cx="3931920" cy="320040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0" y="228600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핵심 사고방식의 전환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46720" y="2651760"/>
            <a:ext cx="1828800" cy="25400"/>
          </a:xfrm>
          <a:prstGeom prst="rect">
            <a:avLst/>
          </a:prstGeom>
          <a:gradFill>
            <a:gsLst>
              <a:gs pos="0">
                <a:srgbClr val="00D2FF"/>
              </a:gs>
              <a:gs pos="100000">
                <a:srgbClr val="7B2FF7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0" y="2926080"/>
            <a:ext cx="33832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50"/>
              </a:spcAft>
              <a:defRPr sz="1400" b="1" i="0">
                <a:solidFill>
                  <a:srgbClr val="FF3585"/>
                </a:solidFill>
                <a:latin typeface="맑은 고딕"/>
              </a:defRPr>
            </a:pPr>
            <a:r>
              <a:t>직관 기반 의사결정</a:t>
            </a:r>
          </a:p>
          <a:p>
            <a:pPr>
              <a:spcAft>
                <a:spcPts val="650"/>
              </a:spcAft>
              <a:defRPr sz="1300" b="0" i="1">
                <a:solidFill>
                  <a:srgbClr val="70708C"/>
                </a:solidFill>
                <a:latin typeface="맑은 고딕"/>
              </a:defRPr>
            </a:pPr>
            <a:r>
              <a:t>"느낌이 좋다"</a:t>
            </a:r>
          </a:p>
          <a:p>
            <a:pPr>
              <a:spcAft>
                <a:spcPts val="650"/>
              </a:spcAft>
              <a:defRPr sz="1500">
                <a:solidFill>
                  <a:srgbClr val="B8B8CC"/>
                </a:solidFill>
                <a:latin typeface="맑은 고딕"/>
              </a:defRPr>
            </a:pPr>
          </a:p>
          <a:p>
            <a:pPr algn="ctr">
              <a:spcAft>
                <a:spcPts val="650"/>
              </a:spcAft>
              <a:defRPr sz="1600" b="0" i="0">
                <a:solidFill>
                  <a:srgbClr val="70708C"/>
                </a:solidFill>
                <a:latin typeface="맑은 고딕"/>
              </a:defRPr>
            </a:pPr>
            <a:r>
              <a:t>↓</a:t>
            </a:r>
          </a:p>
          <a:p>
            <a:pPr>
              <a:spcAft>
                <a:spcPts val="650"/>
              </a:spcAft>
              <a:defRPr sz="1500">
                <a:solidFill>
                  <a:srgbClr val="B8B8CC"/>
                </a:solidFill>
                <a:latin typeface="맑은 고딕"/>
              </a:defRPr>
            </a:pPr>
          </a:p>
          <a:p>
            <a:pPr>
              <a:spcAft>
                <a:spcPts val="650"/>
              </a:spcAft>
              <a:defRPr sz="1400" b="1" i="0">
                <a:solidFill>
                  <a:srgbClr val="00E696"/>
                </a:solidFill>
                <a:latin typeface="맑은 고딕"/>
              </a:defRPr>
            </a:pPr>
            <a:r>
              <a:t>데이터 기반 의사결정</a:t>
            </a:r>
          </a:p>
          <a:p>
            <a:pPr>
              <a:spcAft>
                <a:spcPts val="650"/>
              </a:spcAft>
              <a:defRPr sz="1300" b="0" i="1">
                <a:solidFill>
                  <a:srgbClr val="FFFFFF"/>
                </a:solidFill>
                <a:latin typeface="맑은 고딕"/>
              </a:defRPr>
            </a:pPr>
            <a:r>
              <a:t>"이 지표가 N% 이상이면 유효하다"</a:t>
            </a:r>
          </a:p>
        </p:txBody>
      </p:sp>
    </p:spTree>
  </p:cSld>
  <p:clrMapOvr>
    <a:masterClrMapping/>
  </p:clrMapOvr>
  <p:transition spd="med">
    <p:fade thruBlk="0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1">
                <a:tint val="100000"/>
                <a:shade val="100000"/>
                <a:satMod val="130000"/>
              </a:schemeClr>
            </a:gs>
            <a:gs pos="100000">
              <a:schemeClr val="accent1">
                <a:tint val="50000"/>
                <a:shade val="100000"/>
                <a:satMod val="350000"/>
              </a:schemeClr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gradFill>
            <a:gsLst>
              <a:gs pos="0">
                <a:srgbClr val="141E38"/>
              </a:gs>
              <a:gs pos="100000">
                <a:srgbClr val="1C2844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gradFill>
            <a:gsLst>
              <a:gs pos="0">
                <a:srgbClr val="00D2FF"/>
              </a:gs>
              <a:gs pos="100000">
                <a:srgbClr val="0080CC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82880"/>
            <a:ext cx="1005840" cy="457200"/>
          </a:xfrm>
          <a:prstGeom prst="roundRect">
            <a:avLst/>
          </a:prstGeom>
          <a:solidFill>
            <a:srgbClr val="1C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D2FF"/>
                </a:solidFill>
                <a:latin typeface="맑은 고딕"/>
              </a:defRPr>
            </a:pPr>
            <a:r>
              <a:t>Day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FFFF"/>
                </a:solidFill>
                <a:latin typeface="맑은 고딕"/>
              </a:defRPr>
            </a:pPr>
            <a:r>
              <a:t>3교시 [라이브 데모]: Gemini로 시장 리서치 효율화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맑은 고딕"/>
              </a:defRPr>
            </a:pPr>
            <a:r>
              <a:t>논리적 프롬프트 구조화의 3원칙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2743200" cy="38100"/>
          </a:xfrm>
          <a:prstGeom prst="rect">
            <a:avLst/>
          </a:prstGeom>
          <a:gradFill>
            <a:gsLst>
              <a:gs pos="0">
                <a:srgbClr val="00D2FF"/>
              </a:gs>
              <a:gs pos="100000">
                <a:srgbClr val="7B2FF7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828800"/>
            <a:ext cx="3474720" cy="137160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828800"/>
            <a:ext cx="3474720" cy="38100"/>
          </a:xfrm>
          <a:prstGeom prst="rect">
            <a:avLst/>
          </a:prstGeom>
          <a:gradFill>
            <a:gsLst>
              <a:gs pos="0">
                <a:srgbClr val="00D2FF"/>
              </a:gs>
              <a:gs pos="100000">
                <a:srgbClr val="0080CC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2103120"/>
            <a:ext cx="320040" cy="320040"/>
          </a:xfrm>
          <a:prstGeom prst="ellipse">
            <a:avLst/>
          </a:prstGeom>
          <a:gradFill>
            <a:gsLst>
              <a:gs pos="0">
                <a:srgbClr val="00D2FF"/>
              </a:gs>
              <a:gs pos="100000">
                <a:srgbClr val="0080CC"/>
              </a:gs>
            </a:gsLst>
            <a:lin ang="81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21408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10312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D2FF"/>
                </a:solidFill>
                <a:latin typeface="맑은 고딕"/>
              </a:defRPr>
            </a:pPr>
            <a:r>
              <a:t>역할(Role) 부여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5603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8B8CC"/>
                </a:solidFill>
                <a:latin typeface="맑은 고딕"/>
              </a:defRPr>
            </a:pPr>
            <a:r>
              <a:t>"너는 IT 서비스 시장 분석 전문가야"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06239" y="1828800"/>
            <a:ext cx="3474720" cy="137160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06239" y="1828800"/>
            <a:ext cx="3474720" cy="38100"/>
          </a:xfrm>
          <a:prstGeom prst="rect">
            <a:avLst/>
          </a:prstGeom>
          <a:gradFill>
            <a:gsLst>
              <a:gs pos="0">
                <a:srgbClr val="7B2FF7"/>
              </a:gs>
              <a:gs pos="100000">
                <a:srgbClr val="5A1FBB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89119" y="2103120"/>
            <a:ext cx="320040" cy="320040"/>
          </a:xfrm>
          <a:prstGeom prst="ellipse">
            <a:avLst/>
          </a:prstGeom>
          <a:gradFill>
            <a:gsLst>
              <a:gs pos="0">
                <a:srgbClr val="7B2FF7"/>
              </a:gs>
              <a:gs pos="100000">
                <a:srgbClr val="5A1FBB"/>
              </a:gs>
            </a:gsLst>
            <a:lin ang="81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19" y="2121408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599" y="210312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7B2FF7"/>
                </a:solidFill>
                <a:latin typeface="맑은 고딕"/>
              </a:defRPr>
            </a:pPr>
            <a:r>
              <a:t>맥락(Context) 제공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19" y="25603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8B8CC"/>
                </a:solidFill>
                <a:latin typeface="맑은 고딕"/>
              </a:defRPr>
            </a:pPr>
            <a:r>
              <a:t>구체적인 상황, 산업, 범위 명시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78" y="1828800"/>
            <a:ext cx="3474720" cy="137160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55278" y="1828800"/>
            <a:ext cx="3474720" cy="38100"/>
          </a:xfrm>
          <a:prstGeom prst="rect">
            <a:avLst/>
          </a:prstGeom>
          <a:gradFill>
            <a:gsLst>
              <a:gs pos="0">
                <a:srgbClr val="FF6B35"/>
              </a:gs>
              <a:gs pos="100000">
                <a:srgbClr val="CC4400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38158" y="2103120"/>
            <a:ext cx="320040" cy="320040"/>
          </a:xfrm>
          <a:prstGeom prst="ellipse">
            <a:avLst/>
          </a:prstGeom>
          <a:gradFill>
            <a:gsLst>
              <a:gs pos="0">
                <a:srgbClr val="FF6B35"/>
              </a:gs>
              <a:gs pos="100000">
                <a:srgbClr val="CC4400"/>
              </a:gs>
            </a:gsLst>
            <a:lin ang="81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58" y="2121408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38" y="210312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6B35"/>
                </a:solidFill>
                <a:latin typeface="맑은 고딕"/>
              </a:defRPr>
            </a:pPr>
            <a:r>
              <a:t>출력 형식(Format) 지정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38158" y="25603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8B8CC"/>
                </a:solidFill>
                <a:latin typeface="맑은 고딕"/>
              </a:defRPr>
            </a:pPr>
            <a:r>
              <a:t>표, 리스트, 단계별 등 원하는 형태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" y="3474720"/>
            <a:ext cx="5303520" cy="301752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3474720"/>
            <a:ext cx="5303520" cy="457200"/>
          </a:xfrm>
          <a:prstGeom prst="rect">
            <a:avLst/>
          </a:prstGeom>
          <a:gradFill>
            <a:gsLst>
              <a:gs pos="0">
                <a:srgbClr val="FF3585"/>
              </a:gs>
              <a:gs pos="100000">
                <a:srgbClr val="CC1A66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350215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맑은 고딕"/>
              </a:defRPr>
            </a:pPr>
            <a:r>
              <a:t>Bad Prompt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114800"/>
            <a:ext cx="4754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50"/>
              </a:spcAft>
              <a:defRPr sz="1500" b="0" i="0">
                <a:solidFill>
                  <a:srgbClr val="FF3585"/>
                </a:solidFill>
                <a:latin typeface="맑은 고딕"/>
              </a:defRPr>
            </a:pPr>
            <a:r>
              <a:t>"배달 앱 시장에 대해 알려줘"</a:t>
            </a:r>
          </a:p>
          <a:p>
            <a:pPr>
              <a:spcAft>
                <a:spcPts val="650"/>
              </a:spcAft>
              <a:defRPr sz="1500">
                <a:solidFill>
                  <a:srgbClr val="B8B8CC"/>
                </a:solidFill>
                <a:latin typeface="맑은 고딕"/>
              </a:defRPr>
            </a:pPr>
          </a:p>
          <a:p>
            <a:pPr>
              <a:spcAft>
                <a:spcPts val="650"/>
              </a:spcAft>
              <a:defRPr sz="1200" b="1" i="0">
                <a:solidFill>
                  <a:srgbClr val="70708C"/>
                </a:solidFill>
                <a:latin typeface="맑은 고딕"/>
              </a:defRPr>
            </a:pPr>
            <a:r>
              <a:t>문제점:</a:t>
            </a:r>
          </a:p>
          <a:p>
            <a:pPr>
              <a:spcAft>
                <a:spcPts val="650"/>
              </a:spcAft>
              <a:defRPr sz="1100" b="0" i="0">
                <a:solidFill>
                  <a:srgbClr val="70708C"/>
                </a:solidFill>
                <a:latin typeface="맑은 고딕"/>
              </a:defRPr>
            </a:pPr>
            <a:r>
              <a:t>  · 역할 부여 없음</a:t>
            </a:r>
          </a:p>
          <a:p>
            <a:pPr>
              <a:spcAft>
                <a:spcPts val="650"/>
              </a:spcAft>
              <a:defRPr sz="1100" b="0" i="0">
                <a:solidFill>
                  <a:srgbClr val="70708C"/>
                </a:solidFill>
                <a:latin typeface="맑은 고딕"/>
              </a:defRPr>
            </a:pPr>
            <a:r>
              <a:t>  · 범위/시기 불명확</a:t>
            </a:r>
          </a:p>
          <a:p>
            <a:pPr>
              <a:spcAft>
                <a:spcPts val="650"/>
              </a:spcAft>
              <a:defRPr sz="1100" b="0" i="0">
                <a:solidFill>
                  <a:srgbClr val="70708C"/>
                </a:solidFill>
                <a:latin typeface="맑은 고딕"/>
              </a:defRPr>
            </a:pPr>
            <a:r>
              <a:t>  · 출력 형식 미지정</a:t>
            </a:r>
          </a:p>
          <a:p>
            <a:pPr>
              <a:spcAft>
                <a:spcPts val="650"/>
              </a:spcAft>
              <a:defRPr sz="1100" b="0" i="0">
                <a:solidFill>
                  <a:srgbClr val="FF3585"/>
                </a:solidFill>
                <a:latin typeface="맑은 고딕"/>
              </a:defRPr>
            </a:pPr>
            <a:r>
              <a:t>  → 두루뭉술한 답변만 나옴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92240" y="3474720"/>
            <a:ext cx="5303520" cy="301752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92240" y="3474720"/>
            <a:ext cx="5303520" cy="457200"/>
          </a:xfrm>
          <a:prstGeom prst="rect">
            <a:avLst/>
          </a:prstGeom>
          <a:gradFill>
            <a:gsLst>
              <a:gs pos="0">
                <a:srgbClr val="00E696"/>
              </a:gs>
              <a:gs pos="100000">
                <a:srgbClr val="00AA6E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0" y="3502152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맑은 고딕"/>
              </a:defRPr>
            </a:pPr>
            <a:r>
              <a:t>Good Prompt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4114800"/>
            <a:ext cx="4754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50"/>
              </a:spcAft>
              <a:defRPr sz="1200" b="0" i="0">
                <a:solidFill>
                  <a:srgbClr val="00E696"/>
                </a:solidFill>
                <a:latin typeface="맑은 고딕"/>
              </a:defRPr>
            </a:pPr>
            <a:r>
              <a:t>"너는 한국 O2O 서비스 시장 분석가야.</a:t>
            </a:r>
          </a:p>
          <a:p>
            <a:pPr>
              <a:spcAft>
                <a:spcPts val="650"/>
              </a:spcAft>
              <a:defRPr sz="1200" b="0" i="0">
                <a:solidFill>
                  <a:srgbClr val="FFFFFF"/>
                </a:solidFill>
                <a:latin typeface="맑은 고딕"/>
              </a:defRPr>
            </a:pPr>
            <a:r>
              <a:t>2024-2025년 한국 음식 배달 앱 시장의</a:t>
            </a:r>
          </a:p>
          <a:p>
            <a:pPr>
              <a:spcAft>
                <a:spcPts val="650"/>
              </a:spcAft>
              <a:defRPr sz="1200" b="0" i="0">
                <a:solidFill>
                  <a:srgbClr val="FFFFFF"/>
                </a:solidFill>
                <a:latin typeface="맑은 고딕"/>
              </a:defRPr>
            </a:pPr>
            <a:r>
              <a:t>주요 트렌드 5가지를 표 형식으로 정리해줘.</a:t>
            </a:r>
          </a:p>
          <a:p>
            <a:pPr>
              <a:spcAft>
                <a:spcPts val="650"/>
              </a:spcAft>
              <a:defRPr sz="1200" b="0" i="0">
                <a:solidFill>
                  <a:srgbClr val="FFFFFF"/>
                </a:solidFill>
                <a:latin typeface="맑은 고딕"/>
              </a:defRPr>
            </a:pPr>
            <a:r>
              <a:t>각 트렌드별로 ①트렌드명 ②설명</a:t>
            </a:r>
          </a:p>
          <a:p>
            <a:pPr>
              <a:spcAft>
                <a:spcPts val="650"/>
              </a:spcAft>
              <a:defRPr sz="1200" b="0" i="0">
                <a:solidFill>
                  <a:srgbClr val="FFFFFF"/>
                </a:solidFill>
                <a:latin typeface="맑은 고딕"/>
              </a:defRPr>
            </a:pPr>
            <a:r>
              <a:t>③대표 서비스 ④시사점을 포함해줘."</a:t>
            </a:r>
          </a:p>
          <a:p>
            <a:pPr>
              <a:spcAft>
                <a:spcPts val="650"/>
              </a:spcAft>
              <a:defRPr sz="1500">
                <a:solidFill>
                  <a:srgbClr val="B8B8CC"/>
                </a:solidFill>
                <a:latin typeface="맑은 고딕"/>
              </a:defRPr>
            </a:pPr>
          </a:p>
          <a:p>
            <a:pPr>
              <a:spcAft>
                <a:spcPts val="650"/>
              </a:spcAft>
              <a:defRPr sz="1100" b="0" i="0">
                <a:solidFill>
                  <a:srgbClr val="00E696"/>
                </a:solidFill>
                <a:latin typeface="맑은 고딕"/>
              </a:defRPr>
            </a:pPr>
            <a:r>
              <a:t>  → 구조화된 분석 결과 도출</a:t>
            </a:r>
          </a:p>
        </p:txBody>
      </p:sp>
    </p:spTree>
  </p:cSld>
  <p:clrMapOvr>
    <a:masterClrMapping/>
  </p:clrMapOvr>
  <p:transition spd="med">
    <p:fade thruBlk="0"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1">
                <a:tint val="100000"/>
                <a:shade val="100000"/>
                <a:satMod val="130000"/>
              </a:schemeClr>
            </a:gs>
            <a:gs pos="100000">
              <a:schemeClr val="accent1">
                <a:tint val="50000"/>
                <a:shade val="100000"/>
                <a:satMod val="350000"/>
              </a:schemeClr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0" y="-914400"/>
            <a:ext cx="5486400" cy="5486400"/>
          </a:xfrm>
          <a:prstGeom prst="ellipse">
            <a:avLst/>
          </a:prstGeom>
          <a:solidFill>
            <a:srgbClr val="7B2FF7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657600"/>
            <a:ext cx="3657600" cy="3657600"/>
          </a:xfrm>
          <a:prstGeom prst="ellipse">
            <a:avLst/>
          </a:prstGeom>
          <a:solidFill>
            <a:srgbClr val="5A1FBB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>
            <a:gsLst>
              <a:gs pos="0">
                <a:srgbClr val="7B2FF7"/>
              </a:gs>
              <a:gs pos="100000">
                <a:srgbClr val="5A1FBB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7B2FF7"/>
                </a:solidFill>
                <a:latin typeface="맑은 고딕"/>
              </a:defRPr>
            </a:pPr>
            <a:r>
              <a:t>Day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맑은 고딕"/>
              </a:defRPr>
            </a:pPr>
            <a:r>
              <a:t>타겟 고객 정의와 페인포인트 발굴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8B8CC"/>
                </a:solidFill>
                <a:latin typeface="맑은 고딕"/>
              </a:defRPr>
            </a:pPr>
            <a:r>
              <a:t>총 3시간  |  이론 + 라이브 데모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114800"/>
            <a:ext cx="3657600" cy="38100"/>
          </a:xfrm>
          <a:prstGeom prst="rect">
            <a:avLst/>
          </a:prstGeom>
          <a:gradFill>
            <a:gsLst>
              <a:gs pos="0">
                <a:srgbClr val="7B2FF7"/>
              </a:gs>
              <a:gs pos="100000">
                <a:srgbClr val="5A1FBB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4572000"/>
            <a:ext cx="822960" cy="411480"/>
          </a:xfrm>
          <a:prstGeom prst="roundRect">
            <a:avLst/>
          </a:prstGeom>
          <a:solidFill>
            <a:srgbClr val="1C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6177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7B2FF7"/>
                </a:solidFill>
                <a:latin typeface="맑은 고딕"/>
              </a:defRPr>
            </a:pPr>
            <a:r>
              <a:t>1교시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61772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8CC"/>
                </a:solidFill>
                <a:latin typeface="맑은 고딕"/>
              </a:defRPr>
            </a:pPr>
            <a:r>
              <a:t>전략적 고객 세분화 및 뾰족한 페르소나 설정 로직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46177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70708C"/>
                </a:solidFill>
                <a:latin typeface="맑은 고딕"/>
              </a:defRPr>
            </a:pPr>
            <a:r>
              <a:t>50분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5212080"/>
            <a:ext cx="822960" cy="411480"/>
          </a:xfrm>
          <a:prstGeom prst="roundRect">
            <a:avLst/>
          </a:prstGeom>
          <a:solidFill>
            <a:srgbClr val="1C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25780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7B2FF7"/>
                </a:solidFill>
                <a:latin typeface="맑은 고딕"/>
              </a:defRPr>
            </a:pPr>
            <a:r>
              <a:t>2교시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525780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8CC"/>
                </a:solidFill>
                <a:latin typeface="맑은 고딕"/>
              </a:defRPr>
            </a:pPr>
            <a:r>
              <a:t>시장 내 흩어진 데이터로 Pain Point 도출하기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5257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70708C"/>
                </a:solidFill>
                <a:latin typeface="맑은 고딕"/>
              </a:defRPr>
            </a:pPr>
            <a:r>
              <a:t>50분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5852160"/>
            <a:ext cx="822960" cy="411480"/>
          </a:xfrm>
          <a:prstGeom prst="roundRect">
            <a:avLst/>
          </a:prstGeom>
          <a:solidFill>
            <a:srgbClr val="1C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8978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7B2FF7"/>
                </a:solidFill>
                <a:latin typeface="맑은 고딕"/>
              </a:defRPr>
            </a:pPr>
            <a:r>
              <a:t>3교시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589788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8CC"/>
                </a:solidFill>
                <a:latin typeface="맑은 고딕"/>
              </a:defRPr>
            </a:pPr>
            <a:r>
              <a:t>[라이브 데모] AI로 페르소나와 페인포인트 역추적 케이스 스터디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58978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70708C"/>
                </a:solidFill>
                <a:latin typeface="맑은 고딕"/>
              </a:defRPr>
            </a:pPr>
            <a:r>
              <a:t>50분</a:t>
            </a:r>
          </a:p>
        </p:txBody>
      </p:sp>
    </p:spTree>
  </p:cSld>
  <p:clrMapOvr>
    <a:masterClrMapping/>
  </p:clrMapOvr>
  <p:transition spd="med">
    <p:fade thruBlk="0"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1">
                <a:tint val="100000"/>
                <a:shade val="100000"/>
                <a:satMod val="130000"/>
              </a:schemeClr>
            </a:gs>
            <a:gs pos="100000">
              <a:schemeClr val="accent1">
                <a:tint val="50000"/>
                <a:shade val="100000"/>
                <a:satMod val="350000"/>
              </a:schemeClr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gradFill>
            <a:gsLst>
              <a:gs pos="0">
                <a:srgbClr val="141E38"/>
              </a:gs>
              <a:gs pos="100000">
                <a:srgbClr val="1C2844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gradFill>
            <a:gsLst>
              <a:gs pos="0">
                <a:srgbClr val="7B2FF7"/>
              </a:gs>
              <a:gs pos="100000">
                <a:srgbClr val="5A1FBB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82880"/>
            <a:ext cx="1005840" cy="457200"/>
          </a:xfrm>
          <a:prstGeom prst="roundRect">
            <a:avLst/>
          </a:prstGeom>
          <a:solidFill>
            <a:srgbClr val="1C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7B2FF7"/>
                </a:solidFill>
                <a:latin typeface="맑은 고딕"/>
              </a:defRPr>
            </a:pPr>
            <a:r>
              <a:t>Day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FFFF"/>
                </a:solidFill>
                <a:latin typeface="맑은 고딕"/>
              </a:defRPr>
            </a:pPr>
            <a:r>
              <a:t>1교시: 고객 세분화(Segmentation)의 4가지 기준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97280"/>
            <a:ext cx="2651760" cy="292608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801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7B2FF7"/>
                </a:solidFill>
                <a:latin typeface="맑은 고딕"/>
              </a:defRPr>
            </a:pPr>
            <a:r>
              <a:t>인구통계적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002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0708C"/>
                </a:solidFill>
                <a:latin typeface="맑은 고딕"/>
              </a:defRPr>
            </a:pPr>
            <a:r>
              <a:t>Demographic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920240"/>
            <a:ext cx="2377440" cy="25400"/>
          </a:xfrm>
          <a:prstGeom prst="rect">
            <a:avLst/>
          </a:prstGeom>
          <a:solidFill>
            <a:srgbClr val="7B2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10312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8B8CC"/>
                </a:solidFill>
                <a:latin typeface="맑은 고딕"/>
              </a:defRPr>
            </a:pPr>
            <a:r>
              <a:t>나이, 성별</a:t>
            </a:r>
            <a:br/>
            <a:r>
              <a:t>소득, 직업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92608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0708C"/>
                </a:solidFill>
                <a:latin typeface="맑은 고딕"/>
              </a:defRPr>
            </a:pPr>
            <a:r>
              <a:t>기본적인 분류</a:t>
            </a:r>
            <a:br/>
            <a:r>
              <a:t>데이터 수집 용이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1097280"/>
            <a:ext cx="2651760" cy="292608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0" y="12801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7B2FF7"/>
                </a:solidFill>
                <a:latin typeface="맑은 고딕"/>
              </a:defRPr>
            </a:pPr>
            <a:r>
              <a:t>지리적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16002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0708C"/>
                </a:solidFill>
                <a:latin typeface="맑은 고딕"/>
              </a:defRPr>
            </a:pPr>
            <a:r>
              <a:t>Geographic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1920240"/>
            <a:ext cx="2377440" cy="25400"/>
          </a:xfrm>
          <a:prstGeom prst="rect">
            <a:avLst/>
          </a:prstGeom>
          <a:solidFill>
            <a:srgbClr val="7B2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83280" y="210312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8B8CC"/>
                </a:solidFill>
                <a:latin typeface="맑은 고딕"/>
              </a:defRPr>
            </a:pPr>
            <a:r>
              <a:t>지역, 도시 규모</a:t>
            </a:r>
            <a:br/>
            <a:r>
              <a:t>기후, 문화권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292608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0708C"/>
                </a:solidFill>
                <a:latin typeface="맑은 고딕"/>
              </a:defRPr>
            </a:pPr>
            <a:r>
              <a:t>위치 기반 서비스에</a:t>
            </a:r>
            <a:br/>
            <a:r>
              <a:t>특히 유용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1097280"/>
            <a:ext cx="2651760" cy="292608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12801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7B2FF7"/>
                </a:solidFill>
                <a:latin typeface="맑은 고딕"/>
              </a:defRPr>
            </a:pPr>
            <a:r>
              <a:t>심리적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16002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0708C"/>
                </a:solidFill>
                <a:latin typeface="맑은 고딕"/>
              </a:defRPr>
            </a:pPr>
            <a:r>
              <a:t>Psychographic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1920240"/>
            <a:ext cx="2377440" cy="25400"/>
          </a:xfrm>
          <a:prstGeom prst="rect">
            <a:avLst/>
          </a:prstGeom>
          <a:solidFill>
            <a:srgbClr val="7B2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210312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8B8CC"/>
                </a:solidFill>
                <a:latin typeface="맑은 고딕"/>
              </a:defRPr>
            </a:pPr>
            <a:r>
              <a:t>가치관, 라이프스타일</a:t>
            </a:r>
            <a:br/>
            <a:r>
              <a:t>관심사, 성향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292608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0708C"/>
                </a:solidFill>
                <a:latin typeface="맑은 고딕"/>
              </a:defRPr>
            </a:pPr>
            <a:r>
              <a:t>고객의 동기를</a:t>
            </a:r>
            <a:br/>
            <a:r>
              <a:t>깊이 이해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6840" y="1097280"/>
            <a:ext cx="2651760" cy="2926080"/>
          </a:xfrm>
          <a:prstGeom prst="roundRect">
            <a:avLst/>
          </a:prstGeom>
          <a:solidFill>
            <a:srgbClr val="1A153D"/>
          </a:solidFill>
          <a:ln>
            <a:noFill/>
          </a:ln>
          <a:effectLst>
            <a:outerShdw blurRad="152400" dist="76200" dir="5400000">
              <a:srgbClr val="7B2FF7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0" y="12801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E696"/>
                </a:solidFill>
                <a:latin typeface="맑은 고딕"/>
              </a:defRPr>
            </a:pPr>
            <a:r>
              <a:t>행동적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16002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0708C"/>
                </a:solidFill>
                <a:latin typeface="맑은 고딕"/>
              </a:defRPr>
            </a:pPr>
            <a:r>
              <a:t>Behavioral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0" y="1920240"/>
            <a:ext cx="2377440" cy="25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0" y="210312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8B8CC"/>
                </a:solidFill>
                <a:latin typeface="맑은 고딕"/>
              </a:defRPr>
            </a:pPr>
            <a:r>
              <a:t>사용 빈도, 구매 패턴</a:t>
            </a:r>
            <a:br/>
            <a:r>
              <a:t>브랜드 충성도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292608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맑은 고딕"/>
              </a:defRPr>
            </a:pPr>
            <a:r>
              <a:t>GTM에서</a:t>
            </a:r>
            <a:br/>
            <a:r>
              <a:t>가장 중요!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4297680"/>
            <a:ext cx="5486400" cy="228600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4348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7B2FF7"/>
                </a:solidFill>
                <a:latin typeface="맑은 고딕"/>
              </a:defRPr>
            </a:pPr>
            <a:r>
              <a:t>토스의 세분화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48463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50"/>
              </a:spcAft>
              <a:defRPr sz="1300" b="0" i="0">
                <a:solidFill>
                  <a:srgbClr val="FF3585"/>
                </a:solidFill>
                <a:latin typeface="맑은 고딕"/>
              </a:defRPr>
            </a:pPr>
            <a:r>
              <a:t>✕ "20대" (인구통계)</a:t>
            </a:r>
          </a:p>
          <a:p>
            <a:pPr>
              <a:spcAft>
                <a:spcPts val="650"/>
              </a:spcAft>
              <a:defRPr sz="1300" b="0" i="0">
                <a:solidFill>
                  <a:srgbClr val="00E696"/>
                </a:solidFill>
                <a:latin typeface="맑은 고딕"/>
              </a:defRPr>
            </a:pPr>
            <a:r>
              <a:t>✓ "금융에 불편을 느끼는 디지털 네이티브" (행동+심리)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26480" y="4297680"/>
            <a:ext cx="5486400" cy="228600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5080" y="44348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7B2FF7"/>
                </a:solidFill>
                <a:latin typeface="맑은 고딕"/>
              </a:defRPr>
            </a:pPr>
            <a:r>
              <a:t>당근마켓의 세분화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48463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50"/>
              </a:spcAft>
              <a:defRPr sz="1300" b="0" i="0">
                <a:solidFill>
                  <a:srgbClr val="FF3585"/>
                </a:solidFill>
                <a:latin typeface="맑은 고딕"/>
              </a:defRPr>
            </a:pPr>
            <a:r>
              <a:t>✕ "서울 거주자" (지리적)</a:t>
            </a:r>
          </a:p>
          <a:p>
            <a:pPr>
              <a:spcAft>
                <a:spcPts val="650"/>
              </a:spcAft>
              <a:defRPr sz="1300" b="0" i="0">
                <a:solidFill>
                  <a:srgbClr val="00E696"/>
                </a:solidFill>
                <a:latin typeface="맑은 고딕"/>
              </a:defRPr>
            </a:pPr>
            <a:r>
              <a:t>✓ "동네 기반 신뢰 거래를 원하는 사람" (행동+심리)</a:t>
            </a:r>
          </a:p>
        </p:txBody>
      </p:sp>
    </p:spTree>
  </p:cSld>
  <p:clrMapOvr>
    <a:masterClrMapping/>
  </p:clrMapOvr>
  <p:transition spd="med">
    <p:fade thruBlk="0"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1">
                <a:tint val="100000"/>
                <a:shade val="100000"/>
                <a:satMod val="130000"/>
              </a:schemeClr>
            </a:gs>
            <a:gs pos="100000">
              <a:schemeClr val="accent1">
                <a:tint val="50000"/>
                <a:shade val="100000"/>
                <a:satMod val="350000"/>
              </a:schemeClr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gradFill>
            <a:gsLst>
              <a:gs pos="0">
                <a:srgbClr val="141E38"/>
              </a:gs>
              <a:gs pos="100000">
                <a:srgbClr val="1C2844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gradFill>
            <a:gsLst>
              <a:gs pos="0">
                <a:srgbClr val="7B2FF7"/>
              </a:gs>
              <a:gs pos="100000">
                <a:srgbClr val="5A1FBB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82880"/>
            <a:ext cx="1005840" cy="457200"/>
          </a:xfrm>
          <a:prstGeom prst="roundRect">
            <a:avLst/>
          </a:prstGeom>
          <a:solidFill>
            <a:srgbClr val="1C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7B2FF7"/>
                </a:solidFill>
                <a:latin typeface="맑은 고딕"/>
              </a:defRPr>
            </a:pPr>
            <a:r>
              <a:t>Day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FFFF"/>
                </a:solidFill>
                <a:latin typeface="맑은 고딕"/>
              </a:defRPr>
            </a:pPr>
            <a:r>
              <a:t>1교시: 뾰족한 페르소나 설정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97280"/>
            <a:ext cx="5943600" cy="548640"/>
          </a:xfrm>
          <a:prstGeom prst="round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170432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7B2FF7"/>
                </a:solidFill>
                <a:latin typeface="맑은 고딕"/>
              </a:defRPr>
            </a:pPr>
            <a:r>
              <a:t>페르소나 ≠ 타겟 오디언스. 타겟의 "대표 인물"을 구체적으로 그린 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828800"/>
            <a:ext cx="5943600" cy="54864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828800"/>
            <a:ext cx="50800" cy="54864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92024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2FF"/>
                </a:solidFill>
                <a:latin typeface="맑은 고딕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9202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기본 정보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1920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8B8CC"/>
                </a:solidFill>
                <a:latin typeface="맑은 고딕"/>
              </a:defRPr>
            </a:pPr>
            <a:r>
              <a:t>이름, 나이, 직업 (구체적으로)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514600"/>
            <a:ext cx="5943600" cy="54864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514600"/>
            <a:ext cx="50800" cy="54864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60604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E696"/>
                </a:solidFill>
                <a:latin typeface="맑은 고딕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6060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핵심 목표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26060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8B8CC"/>
                </a:solidFill>
                <a:latin typeface="맑은 고딕"/>
              </a:defRPr>
            </a:pPr>
            <a:r>
              <a:t>이 사람이 달성하고 싶은 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200400"/>
            <a:ext cx="5943600" cy="54864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3200400"/>
            <a:ext cx="50800" cy="548640"/>
          </a:xfrm>
          <a:prstGeom prst="rect">
            <a:avLst/>
          </a:prstGeom>
          <a:solidFill>
            <a:srgbClr val="FF3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29184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3585"/>
                </a:solidFill>
                <a:latin typeface="맑은 고딕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2918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핵심 불만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2918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8B8CC"/>
                </a:solidFill>
                <a:latin typeface="맑은 고딕"/>
              </a:defRPr>
            </a:pPr>
            <a:r>
              <a:t>목표 달성을 방해하는 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3886200"/>
            <a:ext cx="5943600" cy="54864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3886200"/>
            <a:ext cx="50800" cy="54864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97764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35"/>
                </a:solidFill>
                <a:latin typeface="맑은 고딕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39776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현재 해결 방식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39776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8B8CC"/>
                </a:solidFill>
                <a:latin typeface="맑은 고딕"/>
              </a:defRPr>
            </a:pPr>
            <a:r>
              <a:t>지금 이 문제를 어떻게 해결하는가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5760" y="4572000"/>
            <a:ext cx="5943600" cy="54864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5760" y="4572000"/>
            <a:ext cx="50800" cy="548640"/>
          </a:xfrm>
          <a:prstGeom prst="rect">
            <a:avLst/>
          </a:prstGeom>
          <a:solidFill>
            <a:srgbClr val="7B2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663440"/>
            <a:ext cx="365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B2FF7"/>
                </a:solidFill>
                <a:latin typeface="맑은 고딕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466344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정보 접근 채널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46634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8B8CC"/>
                </a:solidFill>
                <a:latin typeface="맑은 고딕"/>
              </a:defRPr>
            </a:pPr>
            <a:r>
              <a:t>어디서 정보를 얻는가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0" y="1097280"/>
            <a:ext cx="4937760" cy="530352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52400" dist="63500" dir="540000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858000" y="1097280"/>
            <a:ext cx="4937760" cy="50800"/>
          </a:xfrm>
          <a:prstGeom prst="rect">
            <a:avLst/>
          </a:prstGeom>
          <a:gradFill>
            <a:gsLst>
              <a:gs pos="0">
                <a:srgbClr val="7B2FF7"/>
              </a:gs>
              <a:gs pos="100000">
                <a:srgbClr val="5A1FBB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0" y="137160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B2FF7"/>
                </a:solidFill>
                <a:latin typeface="맑은 고딕"/>
              </a:defRPr>
            </a:pPr>
            <a:r>
              <a:t>페르소나 예시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132320" y="1737360"/>
            <a:ext cx="1828800" cy="25400"/>
          </a:xfrm>
          <a:prstGeom prst="rect">
            <a:avLst/>
          </a:prstGeom>
          <a:gradFill>
            <a:gsLst>
              <a:gs pos="0">
                <a:srgbClr val="7B2FF7"/>
              </a:gs>
              <a:gs pos="100000">
                <a:srgbClr val="00D2FF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32320" y="1920240"/>
            <a:ext cx="4389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50"/>
              </a:spcAft>
              <a:defRPr sz="2000" b="1" i="0">
                <a:solidFill>
                  <a:srgbClr val="FFFFFF"/>
                </a:solidFill>
                <a:latin typeface="맑은 고딕"/>
              </a:defRPr>
            </a:pPr>
            <a:r>
              <a:t>김지현 (28세)</a:t>
            </a:r>
          </a:p>
          <a:p>
            <a:pPr>
              <a:spcAft>
                <a:spcPts val="650"/>
              </a:spcAft>
              <a:defRPr sz="1300" b="0" i="0">
                <a:solidFill>
                  <a:srgbClr val="B8B8CC"/>
                </a:solidFill>
                <a:latin typeface="맑은 고딕"/>
              </a:defRPr>
            </a:pPr>
            <a:r>
              <a:t>스타트업 마케터 2년차</a:t>
            </a:r>
          </a:p>
          <a:p>
            <a:pPr>
              <a:spcAft>
                <a:spcPts val="650"/>
              </a:spcAft>
              <a:defRPr sz="1500">
                <a:solidFill>
                  <a:srgbClr val="B8B8CC"/>
                </a:solidFill>
                <a:latin typeface="맑은 고딕"/>
              </a:defRPr>
            </a:pPr>
          </a:p>
          <a:p>
            <a:pPr>
              <a:spcAft>
                <a:spcPts val="650"/>
              </a:spcAft>
              <a:defRPr sz="1200" b="1" i="0">
                <a:solidFill>
                  <a:srgbClr val="00E696"/>
                </a:solidFill>
                <a:latin typeface="맑은 고딕"/>
              </a:defRPr>
            </a:pPr>
            <a:r>
              <a:t>핵심 목표</a:t>
            </a:r>
          </a:p>
          <a:p>
            <a:pPr>
              <a:spcAft>
                <a:spcPts val="650"/>
              </a:spcAft>
              <a:defRPr sz="1200" b="0" i="0">
                <a:solidFill>
                  <a:srgbClr val="B8B8CC"/>
                </a:solidFill>
                <a:latin typeface="맑은 고딕"/>
              </a:defRPr>
            </a:pPr>
            <a:r>
              <a:t>한정된 예산으로 효과적인 마케팅 캠페인</a:t>
            </a:r>
            <a:br/>
            <a:r>
              <a:t>성과를 내고 싶다</a:t>
            </a:r>
          </a:p>
          <a:p>
            <a:pPr>
              <a:spcAft>
                <a:spcPts val="650"/>
              </a:spcAft>
              <a:defRPr sz="1500">
                <a:solidFill>
                  <a:srgbClr val="B8B8CC"/>
                </a:solidFill>
                <a:latin typeface="맑은 고딕"/>
              </a:defRPr>
            </a:pPr>
          </a:p>
          <a:p>
            <a:pPr>
              <a:spcAft>
                <a:spcPts val="650"/>
              </a:spcAft>
              <a:defRPr sz="1200" b="1" i="0">
                <a:solidFill>
                  <a:srgbClr val="FF3585"/>
                </a:solidFill>
                <a:latin typeface="맑은 고딕"/>
              </a:defRPr>
            </a:pPr>
            <a:r>
              <a:t>핵심 불만 (Pain Point)</a:t>
            </a:r>
          </a:p>
          <a:p>
            <a:pPr>
              <a:spcAft>
                <a:spcPts val="650"/>
              </a:spcAft>
              <a:defRPr sz="1200" b="0" i="0">
                <a:solidFill>
                  <a:srgbClr val="B8B8CC"/>
                </a:solidFill>
                <a:latin typeface="맑은 고딕"/>
              </a:defRPr>
            </a:pPr>
            <a:r>
              <a:t>데이터 분석 역량이 부족해서 감으로</a:t>
            </a:r>
            <a:br/>
            <a:r>
              <a:t>의사결정하게 된다</a:t>
            </a:r>
          </a:p>
          <a:p>
            <a:pPr>
              <a:spcAft>
                <a:spcPts val="650"/>
              </a:spcAft>
              <a:defRPr sz="1500">
                <a:solidFill>
                  <a:srgbClr val="B8B8CC"/>
                </a:solidFill>
                <a:latin typeface="맑은 고딕"/>
              </a:defRPr>
            </a:pPr>
          </a:p>
          <a:p>
            <a:pPr>
              <a:spcAft>
                <a:spcPts val="650"/>
              </a:spcAft>
              <a:defRPr sz="1200" b="1" i="0">
                <a:solidFill>
                  <a:srgbClr val="FF6B35"/>
                </a:solidFill>
                <a:latin typeface="맑은 고딕"/>
              </a:defRPr>
            </a:pPr>
            <a:r>
              <a:t>현재 해결 방식</a:t>
            </a:r>
          </a:p>
          <a:p>
            <a:pPr>
              <a:spcAft>
                <a:spcPts val="650"/>
              </a:spcAft>
              <a:defRPr sz="1200" b="0" i="0">
                <a:solidFill>
                  <a:srgbClr val="B8B8CC"/>
                </a:solidFill>
                <a:latin typeface="맑은 고딕"/>
              </a:defRPr>
            </a:pPr>
            <a:r>
              <a:t>블로그 글, 유튜브 영상으로 독학</a:t>
            </a:r>
          </a:p>
          <a:p>
            <a:pPr>
              <a:spcAft>
                <a:spcPts val="650"/>
              </a:spcAft>
              <a:defRPr sz="1500">
                <a:solidFill>
                  <a:srgbClr val="B8B8CC"/>
                </a:solidFill>
                <a:latin typeface="맑은 고딕"/>
              </a:defRPr>
            </a:pPr>
          </a:p>
          <a:p>
            <a:pPr>
              <a:spcAft>
                <a:spcPts val="650"/>
              </a:spcAft>
              <a:defRPr sz="1200" b="1" i="0">
                <a:solidFill>
                  <a:srgbClr val="00D2FF"/>
                </a:solidFill>
                <a:latin typeface="맑은 고딕"/>
              </a:defRPr>
            </a:pPr>
            <a:r>
              <a:t>정보 접근 채널</a:t>
            </a:r>
          </a:p>
          <a:p>
            <a:pPr>
              <a:spcAft>
                <a:spcPts val="650"/>
              </a:spcAft>
              <a:defRPr sz="1200" b="0" i="0">
                <a:solidFill>
                  <a:srgbClr val="B8B8CC"/>
                </a:solidFill>
                <a:latin typeface="맑은 고딕"/>
              </a:defRPr>
            </a:pPr>
            <a:r>
              <a:t>인스타그램, 마케팅 오픈채팅방, 브런치</a:t>
            </a:r>
          </a:p>
        </p:txBody>
      </p:sp>
    </p:spTree>
  </p:cSld>
  <p:clrMapOvr>
    <a:masterClrMapping/>
  </p:clrMapOvr>
  <p:transition spd="med">
    <p:fade thruBlk="0"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1">
                <a:tint val="100000"/>
                <a:shade val="100000"/>
                <a:satMod val="130000"/>
              </a:schemeClr>
            </a:gs>
            <a:gs pos="100000">
              <a:schemeClr val="accent1">
                <a:tint val="50000"/>
                <a:shade val="100000"/>
                <a:satMod val="350000"/>
              </a:schemeClr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gradFill>
            <a:gsLst>
              <a:gs pos="0">
                <a:srgbClr val="141E38"/>
              </a:gs>
              <a:gs pos="100000">
                <a:srgbClr val="1C2844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gradFill>
            <a:gsLst>
              <a:gs pos="0">
                <a:srgbClr val="7B2FF7"/>
              </a:gs>
              <a:gs pos="100000">
                <a:srgbClr val="5A1FBB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82880"/>
            <a:ext cx="1005840" cy="457200"/>
          </a:xfrm>
          <a:prstGeom prst="roundRect">
            <a:avLst/>
          </a:prstGeom>
          <a:solidFill>
            <a:srgbClr val="1C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7B2FF7"/>
                </a:solidFill>
                <a:latin typeface="맑은 고딕"/>
              </a:defRPr>
            </a:pPr>
            <a:r>
              <a:t>Day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FFFF"/>
                </a:solidFill>
                <a:latin typeface="맑은 고딕"/>
              </a:defRPr>
            </a:pPr>
            <a:r>
              <a:t>2교시: Pain Point 3유형과 추출 방법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97280"/>
            <a:ext cx="3474720" cy="274320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097280"/>
            <a:ext cx="3474720" cy="50800"/>
          </a:xfrm>
          <a:prstGeom prst="rect">
            <a:avLst/>
          </a:prstGeom>
          <a:gradFill>
            <a:gsLst>
              <a:gs pos="0">
                <a:srgbClr val="00D2FF"/>
              </a:gs>
              <a:gs pos="100000">
                <a:srgbClr val="0080CC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  <a:latin typeface="맑은 고딕"/>
              </a:defRPr>
            </a:pPr>
            <a:r>
              <a:t>기능적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C"/>
                </a:solidFill>
                <a:latin typeface="맑은 고딕"/>
              </a:defRPr>
            </a:pPr>
            <a:r>
              <a:t>Functional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10312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8CC"/>
                </a:solidFill>
                <a:latin typeface="맑은 고딕"/>
              </a:defRPr>
            </a:pPr>
            <a:r>
              <a:t>"앱이 느려요"</a:t>
            </a:r>
            <a:br/>
            <a:r>
              <a:t>"결제가 안 돼요"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175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0708C"/>
                </a:solidFill>
                <a:latin typeface="맑은 고딕"/>
              </a:defRPr>
            </a:pPr>
            <a:r>
              <a:t>직접적 불편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799" y="1097280"/>
            <a:ext cx="3474720" cy="274320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799" y="1097280"/>
            <a:ext cx="3474720" cy="50800"/>
          </a:xfrm>
          <a:prstGeom prst="rect">
            <a:avLst/>
          </a:prstGeom>
          <a:gradFill>
            <a:gsLst>
              <a:gs pos="0">
                <a:srgbClr val="7B2FF7"/>
              </a:gs>
              <a:gs pos="100000">
                <a:srgbClr val="5A1FBB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79" y="1371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B2FF7"/>
                </a:solidFill>
                <a:latin typeface="맑은 고딕"/>
              </a:defRPr>
            </a:pPr>
            <a:r>
              <a:t>감정적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79" y="169164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C"/>
                </a:solidFill>
                <a:latin typeface="맑은 고딕"/>
              </a:defRPr>
            </a:pPr>
            <a:r>
              <a:t>Emotional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79" y="210312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8CC"/>
                </a:solidFill>
                <a:latin typeface="맑은 고딕"/>
              </a:defRPr>
            </a:pPr>
            <a:r>
              <a:t>"불안해요"</a:t>
            </a:r>
            <a:br/>
            <a:r>
              <a:t>"신뢰가 안 가요"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79" y="30175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0708C"/>
                </a:solidFill>
                <a:latin typeface="맑은 고딕"/>
              </a:defRPr>
            </a:pPr>
            <a:r>
              <a:t>심리적 장벽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38" y="1097280"/>
            <a:ext cx="3474720" cy="274320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63838" y="1097280"/>
            <a:ext cx="3474720" cy="50800"/>
          </a:xfrm>
          <a:prstGeom prst="rect">
            <a:avLst/>
          </a:prstGeom>
          <a:gradFill>
            <a:gsLst>
              <a:gs pos="0">
                <a:srgbClr val="FF6B35"/>
              </a:gs>
              <a:gs pos="100000">
                <a:srgbClr val="CC4400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18" y="1371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35"/>
                </a:solidFill>
                <a:latin typeface="맑은 고딕"/>
              </a:defRPr>
            </a:pPr>
            <a:r>
              <a:t>사회적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18" y="1691640"/>
            <a:ext cx="3108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0708C"/>
                </a:solidFill>
                <a:latin typeface="맑은 고딕"/>
              </a:defRPr>
            </a:pPr>
            <a:r>
              <a:t>Social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18" y="210312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8CC"/>
                </a:solidFill>
                <a:latin typeface="맑은 고딕"/>
              </a:defRPr>
            </a:pPr>
            <a:r>
              <a:t>"혼자만 쓰는 느낌"</a:t>
            </a:r>
            <a:br/>
            <a:r>
              <a:t>"주변에 아는 사람이 없어요"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18" y="30175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0708C"/>
                </a:solidFill>
                <a:latin typeface="맑은 고딕"/>
              </a:defRPr>
            </a:pPr>
            <a:r>
              <a:t>관계/소속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4114800"/>
            <a:ext cx="11247120" cy="246888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2519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E696"/>
                </a:solidFill>
                <a:latin typeface="맑은 고딕"/>
              </a:defRPr>
            </a:pPr>
            <a:r>
              <a:t>실전 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572000"/>
            <a:ext cx="1371600" cy="25400"/>
          </a:xfrm>
          <a:prstGeom prst="rect">
            <a:avLst/>
          </a:prstGeom>
          <a:gradFill>
            <a:gsLst>
              <a:gs pos="0">
                <a:srgbClr val="00E696"/>
              </a:gs>
              <a:gs pos="100000">
                <a:srgbClr val="00AA6E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7548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E696"/>
                </a:solidFill>
                <a:latin typeface="맑은 고딕"/>
              </a:defRPr>
            </a:pPr>
            <a:r>
              <a:t>· 별점 3점 리뷰 집중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7548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8CC"/>
                </a:solidFill>
                <a:latin typeface="맑은 고딕"/>
              </a:defRPr>
            </a:pPr>
            <a:r>
              <a:t>1-2점은 극단적 의견에 치우침. 3점 리뷰에 가장 건설적인 피드백이 많다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3035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E696"/>
                </a:solidFill>
                <a:latin typeface="맑은 고딕"/>
              </a:defRPr>
            </a:pPr>
            <a:r>
              <a:t>· 긴 리뷰 = 강한 감정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5303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8CC"/>
                </a:solidFill>
                <a:latin typeface="맑은 고딕"/>
              </a:defRPr>
            </a:pPr>
            <a:r>
              <a:t>글자 수가 많은 리뷰일수록 강한 감정이 담겨 있음 → 핵심 Pain Point 단서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8521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E696"/>
                </a:solidFill>
                <a:latin typeface="맑은 고딕"/>
              </a:defRPr>
            </a:pPr>
            <a:r>
              <a:t>· 검색 키워드 활용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58521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8CC"/>
                </a:solidFill>
                <a:latin typeface="맑은 고딕"/>
              </a:defRPr>
            </a:pPr>
            <a:r>
              <a:t>"[서비스명] 불편", "[서비스명] 대안", "[서비스명] 탈퇴"로 커뮤니티 검색</a:t>
            </a:r>
          </a:p>
        </p:txBody>
      </p:sp>
    </p:spTree>
  </p:cSld>
  <p:clrMapOvr>
    <a:masterClrMapping/>
  </p:clrMapOvr>
  <p:transition spd="med">
    <p:fade thruBlk="0"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1">
                <a:tint val="100000"/>
                <a:shade val="100000"/>
                <a:satMod val="130000"/>
              </a:schemeClr>
            </a:gs>
            <a:gs pos="100000">
              <a:schemeClr val="accent1">
                <a:tint val="50000"/>
                <a:shade val="100000"/>
                <a:satMod val="350000"/>
              </a:schemeClr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0" y="-914400"/>
            <a:ext cx="5486400" cy="5486400"/>
          </a:xfrm>
          <a:prstGeom prst="ellipse">
            <a:avLst/>
          </a:prstGeom>
          <a:solidFill>
            <a:srgbClr val="FF6B35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657600"/>
            <a:ext cx="3657600" cy="3657600"/>
          </a:xfrm>
          <a:prstGeom prst="ellipse">
            <a:avLst/>
          </a:prstGeom>
          <a:solidFill>
            <a:srgbClr val="CC44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>
            <a:gsLst>
              <a:gs pos="0">
                <a:srgbClr val="FF6B35"/>
              </a:gs>
              <a:gs pos="100000">
                <a:srgbClr val="CC4400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F6B35"/>
                </a:solidFill>
                <a:latin typeface="맑은 고딕"/>
              </a:defRPr>
            </a:pPr>
            <a:r>
              <a:t>Day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맑은 고딕"/>
              </a:defRPr>
            </a:pPr>
            <a:r>
              <a:t>포지셔닝 및 핵심 메시지 기획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8B8CC"/>
                </a:solidFill>
                <a:latin typeface="맑은 고딕"/>
              </a:defRPr>
            </a:pPr>
            <a:r>
              <a:t>총 3시간  |  이론 + 라이브 데모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114800"/>
            <a:ext cx="3657600" cy="38100"/>
          </a:xfrm>
          <a:prstGeom prst="rect">
            <a:avLst/>
          </a:prstGeom>
          <a:gradFill>
            <a:gsLst>
              <a:gs pos="0">
                <a:srgbClr val="FF6B35"/>
              </a:gs>
              <a:gs pos="100000">
                <a:srgbClr val="CC4400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4572000"/>
            <a:ext cx="822960" cy="411480"/>
          </a:xfrm>
          <a:prstGeom prst="roundRect">
            <a:avLst/>
          </a:prstGeom>
          <a:solidFill>
            <a:srgbClr val="1C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6177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6B35"/>
                </a:solidFill>
                <a:latin typeface="맑은 고딕"/>
              </a:defRPr>
            </a:pPr>
            <a:r>
              <a:t>1교시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61772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8CC"/>
                </a:solidFill>
                <a:latin typeface="맑은 고딕"/>
              </a:defRPr>
            </a:pPr>
            <a:r>
              <a:t>핵심 가치 제안(Value Proposition) 도출과 포지셔닝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46177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70708C"/>
                </a:solidFill>
                <a:latin typeface="맑은 고딕"/>
              </a:defRPr>
            </a:pPr>
            <a:r>
              <a:t>50분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5212080"/>
            <a:ext cx="822960" cy="411480"/>
          </a:xfrm>
          <a:prstGeom prst="roundRect">
            <a:avLst/>
          </a:prstGeom>
          <a:solidFill>
            <a:srgbClr val="1C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25780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6B35"/>
                </a:solidFill>
                <a:latin typeface="맑은 고딕"/>
              </a:defRPr>
            </a:pPr>
            <a:r>
              <a:t>2교시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525780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8CC"/>
                </a:solidFill>
                <a:latin typeface="맑은 고딕"/>
              </a:defRPr>
            </a:pPr>
            <a:r>
              <a:t>메시징 프레임워크와 카피라이팅 논리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5257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70708C"/>
                </a:solidFill>
                <a:latin typeface="맑은 고딕"/>
              </a:defRPr>
            </a:pPr>
            <a:r>
              <a:t>50분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5852160"/>
            <a:ext cx="822960" cy="411480"/>
          </a:xfrm>
          <a:prstGeom prst="roundRect">
            <a:avLst/>
          </a:prstGeom>
          <a:solidFill>
            <a:srgbClr val="1C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8978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6B35"/>
                </a:solidFill>
                <a:latin typeface="맑은 고딕"/>
              </a:defRPr>
            </a:pPr>
            <a:r>
              <a:t>3교시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589788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8CC"/>
                </a:solidFill>
                <a:latin typeface="맑은 고딕"/>
              </a:defRPr>
            </a:pPr>
            <a:r>
              <a:t>[라이브 데모] AI로 GTM 메시지 &amp; A/B 테스트 설계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58978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70708C"/>
                </a:solidFill>
                <a:latin typeface="맑은 고딕"/>
              </a:defRPr>
            </a:pPr>
            <a:r>
              <a:t>50분</a:t>
            </a:r>
          </a:p>
        </p:txBody>
      </p:sp>
    </p:spTree>
  </p:cSld>
  <p:clrMapOvr>
    <a:masterClrMapping/>
  </p:clrMapOvr>
  <p:transition spd="med">
    <p:fade thruBlk="0"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1">
                <a:tint val="100000"/>
                <a:shade val="100000"/>
                <a:satMod val="130000"/>
              </a:schemeClr>
            </a:gs>
            <a:gs pos="100000">
              <a:schemeClr val="accent1">
                <a:tint val="50000"/>
                <a:shade val="100000"/>
                <a:satMod val="350000"/>
              </a:schemeClr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gradFill>
            <a:gsLst>
              <a:gs pos="0">
                <a:srgbClr val="141E38"/>
              </a:gs>
              <a:gs pos="100000">
                <a:srgbClr val="1C2844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gradFill>
            <a:gsLst>
              <a:gs pos="0">
                <a:srgbClr val="FF6B35"/>
              </a:gs>
              <a:gs pos="100000">
                <a:srgbClr val="CC4400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82880"/>
            <a:ext cx="1005840" cy="457200"/>
          </a:xfrm>
          <a:prstGeom prst="roundRect">
            <a:avLst/>
          </a:prstGeom>
          <a:solidFill>
            <a:srgbClr val="1C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6B35"/>
                </a:solidFill>
                <a:latin typeface="맑은 고딕"/>
              </a:defRPr>
            </a:pPr>
            <a:r>
              <a:t>Day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FFFF"/>
                </a:solidFill>
                <a:latin typeface="맑은 고딕"/>
              </a:defRPr>
            </a:pPr>
            <a:r>
              <a:t>1교시: 가치 제안(Value Proposition) 도출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51560"/>
            <a:ext cx="11247120" cy="594360"/>
          </a:xfrm>
          <a:prstGeom prst="round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6B35"/>
                </a:solidFill>
                <a:latin typeface="맑은 고딕"/>
              </a:defRPr>
            </a:pPr>
            <a:r>
              <a:t>가치 제안 = 고객이 우리 서비스를 선택해야 하는 단 하나의 이유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828800"/>
            <a:ext cx="5029200" cy="292608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828800"/>
            <a:ext cx="5029200" cy="457200"/>
          </a:xfrm>
          <a:prstGeom prst="rect">
            <a:avLst/>
          </a:prstGeom>
          <a:gradFill>
            <a:gsLst>
              <a:gs pos="0">
                <a:srgbClr val="FF6B35"/>
              </a:gs>
              <a:gs pos="100000">
                <a:srgbClr val="CC4400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856231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고객 프로필 (Day 2에서 이미 도출)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468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맑은 고딕"/>
              </a:defRPr>
            </a:pPr>
            <a:r>
              <a:t>Jobs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246888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8CC"/>
                </a:solidFill>
                <a:latin typeface="맑은 고딕"/>
              </a:defRPr>
            </a:pPr>
            <a:r>
              <a:t>해결하고 싶은 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1546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3585"/>
                </a:solidFill>
                <a:latin typeface="맑은 고딕"/>
              </a:defRPr>
            </a:pPr>
            <a:r>
              <a:t>Pains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315468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8CC"/>
                </a:solidFill>
                <a:latin typeface="맑은 고딕"/>
              </a:defRPr>
            </a:pPr>
            <a:r>
              <a:t>Pain Point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8404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E696"/>
                </a:solidFill>
                <a:latin typeface="맑은 고딕"/>
              </a:defRPr>
            </a:pPr>
            <a:r>
              <a:t>Gains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384048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8CC"/>
                </a:solidFill>
                <a:latin typeface="맑은 고딕"/>
              </a:defRPr>
            </a:pPr>
            <a:r>
              <a:t>기대하는 이득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29260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6B35"/>
                </a:solidFill>
                <a:latin typeface="맑은 고딕"/>
              </a:defRPr>
            </a:pPr>
            <a:r>
              <a:t>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1828800"/>
            <a:ext cx="5212080" cy="292608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0" y="1828800"/>
            <a:ext cx="5212080" cy="457200"/>
          </a:xfrm>
          <a:prstGeom prst="rect">
            <a:avLst/>
          </a:prstGeom>
          <a:gradFill>
            <a:gsLst>
              <a:gs pos="0">
                <a:srgbClr val="00D2FF"/>
              </a:gs>
              <a:gs pos="100000">
                <a:srgbClr val="0080CC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856231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가치 맵 (오늘 채울 것)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24688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  <a:latin typeface="맑은 고딕"/>
              </a:defRPr>
            </a:pPr>
            <a:r>
              <a:t>제품/서비스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24688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8CC"/>
                </a:solidFill>
                <a:latin typeface="맑은 고딕"/>
              </a:defRPr>
            </a:pPr>
            <a:r>
              <a:t>우리가 제공하는 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31546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E696"/>
                </a:solidFill>
                <a:latin typeface="맑은 고딕"/>
              </a:defRPr>
            </a:pPr>
            <a:r>
              <a:t>Pain Reliever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0" y="31546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8CC"/>
                </a:solidFill>
                <a:latin typeface="맑은 고딕"/>
              </a:defRPr>
            </a:pPr>
            <a:r>
              <a:t>고통을 해소하는 기능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38404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B2FF7"/>
                </a:solidFill>
                <a:latin typeface="맑은 고딕"/>
              </a:defRPr>
            </a:pPr>
            <a:r>
              <a:t>Gain Creator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38404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8CC"/>
                </a:solidFill>
                <a:latin typeface="맑은 고딕"/>
              </a:defRPr>
            </a:pPr>
            <a:r>
              <a:t>이득을 만드는 기능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5029200"/>
            <a:ext cx="5486400" cy="146304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51206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35"/>
                </a:solidFill>
                <a:latin typeface="맑은 고딕"/>
              </a:defRPr>
            </a:pPr>
            <a:r>
              <a:t>토스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44068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50"/>
              </a:spcAft>
              <a:defRPr sz="1200" b="0" i="0">
                <a:solidFill>
                  <a:srgbClr val="FF3585"/>
                </a:solidFill>
                <a:latin typeface="맑은 고딕"/>
              </a:defRPr>
            </a:pPr>
            <a:r>
              <a:t>Pain: 복잡한 금융 서비스</a:t>
            </a:r>
          </a:p>
          <a:p>
            <a:pPr>
              <a:spcAft>
                <a:spcPts val="650"/>
              </a:spcAft>
              <a:defRPr sz="1200" b="0" i="0">
                <a:solidFill>
                  <a:srgbClr val="00E696"/>
                </a:solidFill>
                <a:latin typeface="맑은 고딕"/>
              </a:defRPr>
            </a:pPr>
            <a:r>
              <a:t>→ Reliever: 원탭 송금, 직관적 UI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26480" y="5029200"/>
            <a:ext cx="5486400" cy="146304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5080" y="51206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6B35"/>
                </a:solidFill>
                <a:latin typeface="맑은 고딕"/>
              </a:defRPr>
            </a:pPr>
            <a:r>
              <a:t>당근마켓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544068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50"/>
              </a:spcAft>
              <a:defRPr sz="1200" b="0" i="0">
                <a:solidFill>
                  <a:srgbClr val="FF3585"/>
                </a:solidFill>
                <a:latin typeface="맑은 고딕"/>
              </a:defRPr>
            </a:pPr>
            <a:r>
              <a:t>Pain: 중고거래 사기 불안</a:t>
            </a:r>
          </a:p>
          <a:p>
            <a:pPr>
              <a:spcAft>
                <a:spcPts val="650"/>
              </a:spcAft>
              <a:defRPr sz="1200" b="0" i="0">
                <a:solidFill>
                  <a:srgbClr val="00E696"/>
                </a:solidFill>
                <a:latin typeface="맑은 고딕"/>
              </a:defRPr>
            </a:pPr>
            <a:r>
              <a:t>→ Reliever: 동네 인증, 매너 온도</a:t>
            </a:r>
          </a:p>
        </p:txBody>
      </p:sp>
    </p:spTree>
  </p:cSld>
  <p:clrMapOvr>
    <a:masterClrMapping/>
  </p:clrMapOvr>
  <p:transition spd="med">
    <p:fade thruBlk="0"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1">
                <a:tint val="100000"/>
                <a:shade val="100000"/>
                <a:satMod val="130000"/>
              </a:schemeClr>
            </a:gs>
            <a:gs pos="100000">
              <a:schemeClr val="accent1">
                <a:tint val="50000"/>
                <a:shade val="100000"/>
                <a:satMod val="350000"/>
              </a:schemeClr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gradFill>
            <a:gsLst>
              <a:gs pos="0">
                <a:srgbClr val="141E38"/>
              </a:gs>
              <a:gs pos="100000">
                <a:srgbClr val="1C2844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gradFill>
            <a:gsLst>
              <a:gs pos="0">
                <a:srgbClr val="FF6B35"/>
              </a:gs>
              <a:gs pos="100000">
                <a:srgbClr val="CC4400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82880"/>
            <a:ext cx="1005840" cy="457200"/>
          </a:xfrm>
          <a:prstGeom prst="roundRect">
            <a:avLst/>
          </a:prstGeom>
          <a:solidFill>
            <a:srgbClr val="1C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6B35"/>
                </a:solidFill>
                <a:latin typeface="맑은 고딕"/>
              </a:defRPr>
            </a:pPr>
            <a:r>
              <a:t>Day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FFFF"/>
                </a:solidFill>
                <a:latin typeface="맑은 고딕"/>
              </a:defRPr>
            </a:pPr>
            <a:r>
              <a:t>1교시: 포지셔닝 스테이트먼트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51560"/>
            <a:ext cx="11247120" cy="594360"/>
          </a:xfrm>
          <a:prstGeom prst="round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6B35"/>
                </a:solidFill>
                <a:latin typeface="맑은 고딕"/>
              </a:defRPr>
            </a:pPr>
            <a:r>
              <a:t>포지셔닝 = 고객의 머릿속에 우리 서비스가 차지하는 위치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828800"/>
            <a:ext cx="11247120" cy="274320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포지셔닝 스테이트먼트 공식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331720"/>
            <a:ext cx="2286000" cy="25400"/>
          </a:xfrm>
          <a:prstGeom prst="rect">
            <a:avLst/>
          </a:prstGeom>
          <a:gradFill>
            <a:gsLst>
              <a:gs pos="0">
                <a:srgbClr val="FF6B35"/>
              </a:gs>
              <a:gs pos="100000">
                <a:srgbClr val="CC4400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5603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 i="0">
                <a:solidFill>
                  <a:srgbClr val="00D2FF"/>
                </a:solidFill>
                <a:latin typeface="맑은 고딕"/>
              </a:defRPr>
            </a:pPr>
            <a:r>
              <a:t>[타겟 고객]에게</a:t>
            </a:r>
          </a:p>
          <a:p>
            <a:pPr>
              <a:spcAft>
                <a:spcPts val="1000"/>
              </a:spcAft>
              <a:defRPr sz="2000" b="1" i="0">
                <a:solidFill>
                  <a:srgbClr val="FFFFFF"/>
                </a:solidFill>
                <a:latin typeface="맑은 고딕"/>
              </a:defRPr>
            </a:pPr>
            <a:r>
              <a:t>[서비스명]은</a:t>
            </a:r>
          </a:p>
          <a:p>
            <a:pPr>
              <a:spcAft>
                <a:spcPts val="1000"/>
              </a:spcAft>
              <a:defRPr sz="2000" b="1" i="0">
                <a:solidFill>
                  <a:srgbClr val="7B2FF7"/>
                </a:solidFill>
                <a:latin typeface="맑은 고딕"/>
              </a:defRPr>
            </a:pPr>
            <a:r>
              <a:t>[경쟁 카테고리] 중에서</a:t>
            </a:r>
          </a:p>
          <a:p>
            <a:pPr>
              <a:spcAft>
                <a:spcPts val="1000"/>
              </a:spcAft>
              <a:defRPr sz="2000" b="1" i="0">
                <a:solidFill>
                  <a:srgbClr val="FF6B35"/>
                </a:solidFill>
                <a:latin typeface="맑은 고딕"/>
              </a:defRPr>
            </a:pPr>
            <a:r>
              <a:t>[핵심 차별점]을 제공하는 서비스이다.</a:t>
            </a:r>
          </a:p>
          <a:p>
            <a:pPr>
              <a:spcAft>
                <a:spcPts val="1000"/>
              </a:spcAft>
              <a:defRPr sz="2000" b="1" i="0">
                <a:solidFill>
                  <a:srgbClr val="00E696"/>
                </a:solidFill>
                <a:latin typeface="맑은 고딕"/>
              </a:defRPr>
            </a:pPr>
            <a:r>
              <a:t>왜냐하면 [근거/증거]이기 때문이다.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4846320"/>
            <a:ext cx="11247120" cy="164592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9377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6B35"/>
                </a:solidFill>
                <a:latin typeface="맑은 고딕"/>
              </a:defRPr>
            </a:pPr>
            <a:r>
              <a:t>예시: 배달의민족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257800"/>
            <a:ext cx="1371600" cy="25400"/>
          </a:xfrm>
          <a:prstGeom prst="rect">
            <a:avLst/>
          </a:prstGeom>
          <a:gradFill>
            <a:gsLst>
              <a:gs pos="0">
                <a:srgbClr val="FF6B35"/>
              </a:gs>
              <a:gs pos="100000">
                <a:srgbClr val="CC4400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3949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50"/>
              </a:spcAft>
              <a:defRPr sz="1400" b="0" i="0">
                <a:solidFill>
                  <a:srgbClr val="FFFFFF"/>
                </a:solidFill>
                <a:latin typeface="맑은 고딕"/>
              </a:defRPr>
            </a:pPr>
            <a:r>
              <a:t>바쁜 직장인에게 / 배달의민족은 / 음식 주문 서비스 중에서 / 가장 다양한 선택지와 재미있는 경험을 제공하는 서비스이다</a:t>
            </a:r>
          </a:p>
          <a:p>
            <a:pPr>
              <a:spcAft>
                <a:spcPts val="650"/>
              </a:spcAft>
              <a:defRPr sz="1400" b="0" i="0">
                <a:solidFill>
                  <a:srgbClr val="00E696"/>
                </a:solidFill>
                <a:latin typeface="맑은 고딕"/>
              </a:defRPr>
            </a:pPr>
            <a:r>
              <a:t>왜냐하면 업계 최다 입점 식당과 B급 감성 브랜딩을 갖추고 있기 때문이다</a:t>
            </a:r>
          </a:p>
        </p:txBody>
      </p:sp>
    </p:spTree>
  </p:cSld>
  <p:clrMapOvr>
    <a:masterClrMapping/>
  </p:clrMapOvr>
  <p:transition spd="med">
    <p:fade thruBlk="0"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1">
                <a:tint val="100000"/>
                <a:shade val="100000"/>
                <a:satMod val="130000"/>
              </a:schemeClr>
            </a:gs>
            <a:gs pos="100000">
              <a:schemeClr val="accent1">
                <a:tint val="50000"/>
                <a:shade val="100000"/>
                <a:satMod val="350000"/>
              </a:schemeClr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gradFill>
            <a:gsLst>
              <a:gs pos="0">
                <a:srgbClr val="141E38"/>
              </a:gs>
              <a:gs pos="100000">
                <a:srgbClr val="1C2844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gradFill>
            <a:gsLst>
              <a:gs pos="0">
                <a:srgbClr val="FF6B35"/>
              </a:gs>
              <a:gs pos="100000">
                <a:srgbClr val="CC4400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82880"/>
            <a:ext cx="1005840" cy="457200"/>
          </a:xfrm>
          <a:prstGeom prst="roundRect">
            <a:avLst/>
          </a:prstGeom>
          <a:solidFill>
            <a:srgbClr val="1C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6B35"/>
                </a:solidFill>
                <a:latin typeface="맑은 고딕"/>
              </a:defRPr>
            </a:pPr>
            <a:r>
              <a:t>Day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FFFF"/>
                </a:solidFill>
                <a:latin typeface="맑은 고딕"/>
              </a:defRPr>
            </a:pPr>
            <a:r>
              <a:t>2교시: 메시징 프레임워크 &amp; 카피라이팅 4원칙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맑은 고딕"/>
              </a:defRPr>
            </a:pPr>
            <a:r>
              <a:t>메시지 계층 구조  (토스 예시)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645920"/>
            <a:ext cx="11247120" cy="548640"/>
          </a:xfrm>
          <a:prstGeom prst="roundRect">
            <a:avLst/>
          </a:prstGeom>
          <a:gradFill>
            <a:gsLst>
              <a:gs pos="0">
                <a:srgbClr val="7B2FF7"/>
              </a:gs>
              <a:gs pos="100000">
                <a:srgbClr val="5A1FBB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916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브랜드 메시지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9164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"금융을 쉽게"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377440"/>
            <a:ext cx="10515600" cy="548640"/>
          </a:xfrm>
          <a:prstGeom prst="roundRect">
            <a:avLst/>
          </a:prstGeom>
          <a:solidFill>
            <a:srgbClr val="1C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46888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D2FF"/>
                </a:solidFill>
                <a:latin typeface="맑은 고딕"/>
              </a:defRPr>
            </a:pPr>
            <a:r>
              <a:t>타겟: 20대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4688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맑은 고딕"/>
              </a:defRPr>
            </a:pPr>
            <a:r>
              <a:t>가치: "첫 월급부터 똑똑한 자산관리"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688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8B8CC"/>
                </a:solidFill>
                <a:latin typeface="맑은 고딕"/>
              </a:defRPr>
            </a:pPr>
            <a:r>
              <a:t>증거: "가입 3분 만에 소비 패턴 분석"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063240"/>
            <a:ext cx="10515600" cy="548640"/>
          </a:xfrm>
          <a:prstGeom prst="roundRect">
            <a:avLst/>
          </a:prstGeom>
          <a:solidFill>
            <a:srgbClr val="1C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15468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D2FF"/>
                </a:solidFill>
                <a:latin typeface="맑은 고딕"/>
              </a:defRPr>
            </a:pPr>
            <a:r>
              <a:t>타겟: 30대 부모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31546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맑은 고딕"/>
              </a:defRPr>
            </a:pPr>
            <a:r>
              <a:t>가치: "아이 용돈도 간편하게"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1546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8B8CC"/>
                </a:solidFill>
                <a:latin typeface="맑은 고딕"/>
              </a:defRPr>
            </a:pPr>
            <a:r>
              <a:t>증거: "토스 용돈 기능 월 이용자 100만명"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3749040"/>
            <a:ext cx="10515600" cy="548640"/>
          </a:xfrm>
          <a:prstGeom prst="roundRect">
            <a:avLst/>
          </a:prstGeom>
          <a:solidFill>
            <a:srgbClr val="1C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84048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D2FF"/>
                </a:solidFill>
                <a:latin typeface="맑은 고딕"/>
              </a:defRPr>
            </a:pPr>
            <a:r>
              <a:t>타겟: 소상공인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60320" y="3840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맑은 고딕"/>
              </a:defRPr>
            </a:pPr>
            <a:r>
              <a:t>가치: "매출 정산을 한눈에"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38404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8B8CC"/>
                </a:solidFill>
                <a:latin typeface="맑은 고딕"/>
              </a:defRPr>
            </a:pPr>
            <a:r>
              <a:t>증거: "토스 비즈니스 가입 소상공인 50만"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480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카피라이팅 4원칙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4937760"/>
            <a:ext cx="2651760" cy="164592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50292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6B35"/>
                </a:solidFill>
                <a:latin typeface="맑은 고딕"/>
              </a:defRPr>
            </a:pPr>
            <a:r>
              <a:t>1. 기능→혜택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3585"/>
                </a:solidFill>
                <a:latin typeface="맑은 고딕"/>
              </a:defRPr>
            </a:pPr>
            <a:r>
              <a:t>✕ "256GB 저장"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76072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E696"/>
                </a:solidFill>
                <a:latin typeface="맑은 고딕"/>
              </a:defRPr>
            </a:pPr>
            <a:r>
              <a:t>✓ "사진 10만 장 걱정 없이"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46120" y="4937760"/>
            <a:ext cx="2651760" cy="164592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383280" y="50292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6B35"/>
                </a:solidFill>
                <a:latin typeface="맑은 고딕"/>
              </a:defRPr>
            </a:pPr>
            <a:r>
              <a:t>2. 고객의 언어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8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3585"/>
                </a:solidFill>
                <a:latin typeface="맑은 고딕"/>
              </a:defRPr>
            </a:pPr>
            <a:r>
              <a:t>✕ "옴니채널 CRM"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83280" y="576072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E696"/>
                </a:solidFill>
                <a:latin typeface="맑은 고딕"/>
              </a:defRPr>
            </a:pPr>
            <a:r>
              <a:t>✓ "문의, 한 곳에서 관리"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26480" y="4937760"/>
            <a:ext cx="2651760" cy="164592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3640" y="50292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6B35"/>
                </a:solidFill>
                <a:latin typeface="맑은 고딕"/>
              </a:defRPr>
            </a:pPr>
            <a:r>
              <a:t>3. 구체적 숫자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3585"/>
                </a:solidFill>
                <a:latin typeface="맑은 고딕"/>
              </a:defRPr>
            </a:pPr>
            <a:r>
              <a:t>✕ "빠른 배달"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63640" y="576072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E696"/>
                </a:solidFill>
                <a:latin typeface="맑은 고딕"/>
              </a:defRPr>
            </a:pPr>
            <a:r>
              <a:t>✓ "평균 28분 도착"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06840" y="4937760"/>
            <a:ext cx="2651760" cy="164592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0" y="502920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6B35"/>
                </a:solidFill>
                <a:latin typeface="맑은 고딕"/>
              </a:defRPr>
            </a:pPr>
            <a:r>
              <a:t>4. 행동 유도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3585"/>
                </a:solidFill>
                <a:latin typeface="맑은 고딕"/>
              </a:defRPr>
            </a:pPr>
            <a:r>
              <a:t>✕ "많은 사랑 부탁"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576072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E696"/>
                </a:solidFill>
                <a:latin typeface="맑은 고딕"/>
              </a:defRPr>
            </a:pPr>
            <a:r>
              <a:t>✓ "지금 시작하기"</a:t>
            </a:r>
          </a:p>
        </p:txBody>
      </p:sp>
    </p:spTree>
  </p:cSld>
  <p:clrMapOvr>
    <a:masterClrMapping/>
  </p:clrMapOvr>
  <p:transition spd="med">
    <p:fade thruBlk="0"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1">
                <a:tint val="100000"/>
                <a:shade val="100000"/>
                <a:satMod val="130000"/>
              </a:schemeClr>
            </a:gs>
            <a:gs pos="100000">
              <a:schemeClr val="accent1">
                <a:tint val="50000"/>
                <a:shade val="100000"/>
                <a:satMod val="350000"/>
              </a:schemeClr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0" y="-914400"/>
            <a:ext cx="5486400" cy="5486400"/>
          </a:xfrm>
          <a:prstGeom prst="ellipse">
            <a:avLst/>
          </a:prstGeom>
          <a:solidFill>
            <a:srgbClr val="00E696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657600"/>
            <a:ext cx="3657600" cy="3657600"/>
          </a:xfrm>
          <a:prstGeom prst="ellipse">
            <a:avLst/>
          </a:prstGeom>
          <a:solidFill>
            <a:srgbClr val="00AA6E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>
            <a:gsLst>
              <a:gs pos="0">
                <a:srgbClr val="00E696"/>
              </a:gs>
              <a:gs pos="100000">
                <a:srgbClr val="00AA6E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00E696"/>
                </a:solidFill>
                <a:latin typeface="맑은 고딕"/>
              </a:defRPr>
            </a:pPr>
            <a:r>
              <a:t>Day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맑은 고딕"/>
              </a:defRPr>
            </a:pPr>
            <a:r>
              <a:t>GTM 채널 전략과 성과 지표(KPI) 설정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8B8CC"/>
                </a:solidFill>
                <a:latin typeface="맑은 고딕"/>
              </a:defRPr>
            </a:pPr>
            <a:r>
              <a:t>총 3시간  |  이론 + 케이스 스터디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114800"/>
            <a:ext cx="3657600" cy="38100"/>
          </a:xfrm>
          <a:prstGeom prst="rect">
            <a:avLst/>
          </a:prstGeom>
          <a:gradFill>
            <a:gsLst>
              <a:gs pos="0">
                <a:srgbClr val="00E696"/>
              </a:gs>
              <a:gs pos="100000">
                <a:srgbClr val="00AA6E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4572000"/>
            <a:ext cx="822960" cy="411480"/>
          </a:xfrm>
          <a:prstGeom prst="roundRect">
            <a:avLst/>
          </a:prstGeom>
          <a:solidFill>
            <a:srgbClr val="1C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6177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E696"/>
                </a:solidFill>
                <a:latin typeface="맑은 고딕"/>
              </a:defRPr>
            </a:pPr>
            <a:r>
              <a:t>1교시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61772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8CC"/>
                </a:solidFill>
                <a:latin typeface="맑은 고딕"/>
              </a:defRPr>
            </a:pPr>
            <a:r>
              <a:t>초기 리소스 한계를 극복하는 채널 믹스 전략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46177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70708C"/>
                </a:solidFill>
                <a:latin typeface="맑은 고딕"/>
              </a:defRPr>
            </a:pPr>
            <a:r>
              <a:t>50분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5212080"/>
            <a:ext cx="822960" cy="411480"/>
          </a:xfrm>
          <a:prstGeom prst="roundRect">
            <a:avLst/>
          </a:prstGeom>
          <a:solidFill>
            <a:srgbClr val="1C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25780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E696"/>
                </a:solidFill>
                <a:latin typeface="맑은 고딕"/>
              </a:defRPr>
            </a:pPr>
            <a:r>
              <a:t>2교시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525780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8CC"/>
                </a:solidFill>
                <a:latin typeface="맑은 고딕"/>
              </a:defRPr>
            </a:pPr>
            <a:r>
              <a:t>GTM 성공을 판단하는 성과 측정 지표 설정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5257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70708C"/>
                </a:solidFill>
                <a:latin typeface="맑은 고딕"/>
              </a:defRPr>
            </a:pPr>
            <a:r>
              <a:t>50분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5852160"/>
            <a:ext cx="822960" cy="411480"/>
          </a:xfrm>
          <a:prstGeom prst="roundRect">
            <a:avLst/>
          </a:prstGeom>
          <a:solidFill>
            <a:srgbClr val="1C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8978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E696"/>
                </a:solidFill>
                <a:latin typeface="맑은 고딕"/>
              </a:defRPr>
            </a:pPr>
            <a:r>
              <a:t>3교시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589788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8CC"/>
                </a:solidFill>
                <a:latin typeface="맑은 고딕"/>
              </a:defRPr>
            </a:pPr>
            <a:r>
              <a:t>[미니 케이스 스터디] 스타트업 초기 GTM 리버스 엔지니어링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58978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70708C"/>
                </a:solidFill>
                <a:latin typeface="맑은 고딕"/>
              </a:defRPr>
            </a:pPr>
            <a:r>
              <a:t>50분</a:t>
            </a:r>
          </a:p>
        </p:txBody>
      </p:sp>
    </p:spTree>
  </p:cSld>
  <p:clrMapOvr>
    <a:masterClrMapping/>
  </p:clrMapOvr>
  <p:transition spd="med">
    <p:fade thruBlk="0"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1">
                <a:tint val="100000"/>
                <a:shade val="100000"/>
                <a:satMod val="130000"/>
              </a:schemeClr>
            </a:gs>
            <a:gs pos="100000">
              <a:schemeClr val="accent1">
                <a:tint val="50000"/>
                <a:shade val="100000"/>
                <a:satMod val="350000"/>
              </a:schemeClr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gradFill>
            <a:gsLst>
              <a:gs pos="0">
                <a:srgbClr val="141E38"/>
              </a:gs>
              <a:gs pos="100000">
                <a:srgbClr val="1C2844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gradFill>
            <a:gsLst>
              <a:gs pos="0">
                <a:srgbClr val="00E696"/>
              </a:gs>
              <a:gs pos="100000">
                <a:srgbClr val="00AA6E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82880"/>
            <a:ext cx="1005840" cy="457200"/>
          </a:xfrm>
          <a:prstGeom prst="roundRect">
            <a:avLst/>
          </a:prstGeom>
          <a:solidFill>
            <a:srgbClr val="1C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E696"/>
                </a:solidFill>
                <a:latin typeface="맑은 고딕"/>
              </a:defRPr>
            </a:pPr>
            <a:r>
              <a:t>Day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FFFF"/>
                </a:solidFill>
                <a:latin typeface="맑은 고딕"/>
              </a:defRPr>
            </a:pPr>
            <a:r>
              <a:t>1교시: 미디어의 3가지 유형 — Owned / Earned / Paid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97280"/>
            <a:ext cx="3566160" cy="530352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097280"/>
            <a:ext cx="3566160" cy="731520"/>
          </a:xfrm>
          <a:prstGeom prst="rect">
            <a:avLst/>
          </a:prstGeom>
          <a:gradFill>
            <a:gsLst>
              <a:gs pos="0">
                <a:srgbClr val="00D2FF"/>
              </a:gs>
              <a:gs pos="100000">
                <a:srgbClr val="0080CC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맑은 고딕"/>
              </a:defRPr>
            </a:pPr>
            <a:r>
              <a:t>Owned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46304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맑은 고딕"/>
              </a:defRPr>
            </a:pPr>
            <a:r>
              <a:t>자사 미디어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0116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맑은 고딕"/>
              </a:defRPr>
            </a:pPr>
            <a:r>
              <a:t>우리가 소유한 채널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377440"/>
            <a:ext cx="3200400" cy="2540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5603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D2FF"/>
                </a:solidFill>
                <a:latin typeface="맑은 고딕"/>
              </a:defRPr>
            </a:pPr>
            <a:r>
              <a:t>예시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8346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8B8CC"/>
                </a:solidFill>
                <a:latin typeface="맑은 고딕"/>
              </a:defRPr>
            </a:pPr>
            <a:r>
              <a:t>블로그, 앱, 뉴스레터</a:t>
            </a:r>
            <a:br/>
            <a:r>
              <a:t>SNS 계정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8404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E696"/>
                </a:solidFill>
                <a:latin typeface="맑은 고딕"/>
              </a:defRPr>
            </a:pPr>
            <a:r>
              <a:t>장점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148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8B8CC"/>
                </a:solidFill>
                <a:latin typeface="맑은 고딕"/>
              </a:defRPr>
            </a:pPr>
            <a:r>
              <a:t>통제 가능, 비용 낮음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7548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3585"/>
                </a:solidFill>
                <a:latin typeface="맑은 고딕"/>
              </a:defRPr>
            </a:pPr>
            <a:r>
              <a:t>단점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0292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8B8CC"/>
                </a:solidFill>
                <a:latin typeface="맑은 고딕"/>
              </a:defRPr>
            </a:pPr>
            <a:r>
              <a:t>도달 범위 한정적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06240" y="1097280"/>
            <a:ext cx="3566160" cy="530352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06240" y="1097280"/>
            <a:ext cx="3566160" cy="731520"/>
          </a:xfrm>
          <a:prstGeom prst="rect">
            <a:avLst/>
          </a:prstGeom>
          <a:gradFill>
            <a:gsLst>
              <a:gs pos="0">
                <a:srgbClr val="00E696"/>
              </a:gs>
              <a:gs pos="100000">
                <a:srgbClr val="00AA6E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06240" y="114300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맑은 고딕"/>
              </a:defRPr>
            </a:pPr>
            <a:r>
              <a:t>Earned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06240" y="146304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맑은 고딕"/>
              </a:defRPr>
            </a:pPr>
            <a:r>
              <a:t>획득 미디어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20116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맑은 고딕"/>
              </a:defRPr>
            </a:pPr>
            <a:r>
              <a:t>제3자 자발적 노출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89120" y="2377440"/>
            <a:ext cx="3200400" cy="25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0" y="25603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E696"/>
                </a:solidFill>
                <a:latin typeface="맑은 고딕"/>
              </a:defRPr>
            </a:pPr>
            <a:r>
              <a:t>예시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28346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8B8CC"/>
                </a:solidFill>
                <a:latin typeface="맑은 고딕"/>
              </a:defRPr>
            </a:pPr>
            <a:r>
              <a:t>언론 보도, 리뷰</a:t>
            </a:r>
            <a:br/>
            <a:r>
              <a:t>입소문, 바이럴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38404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E696"/>
                </a:solidFill>
                <a:latin typeface="맑은 고딕"/>
              </a:defRPr>
            </a:pPr>
            <a:r>
              <a:t>장점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41148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8B8CC"/>
                </a:solidFill>
                <a:latin typeface="맑은 고딕"/>
              </a:defRPr>
            </a:pPr>
            <a:r>
              <a:t>신뢰도 높음, 비용 없음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47548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3585"/>
                </a:solidFill>
                <a:latin typeface="맑은 고딕"/>
              </a:defRPr>
            </a:pPr>
            <a:r>
              <a:t>단점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50292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8B8CC"/>
                </a:solidFill>
                <a:latin typeface="맑은 고딕"/>
              </a:defRPr>
            </a:pPr>
            <a:r>
              <a:t>통제 불가, 예측 어려움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46720" y="1097280"/>
            <a:ext cx="3566160" cy="530352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46720" y="1097280"/>
            <a:ext cx="3566160" cy="731520"/>
          </a:xfrm>
          <a:prstGeom prst="rect">
            <a:avLst/>
          </a:prstGeom>
          <a:gradFill>
            <a:gsLst>
              <a:gs pos="0">
                <a:srgbClr val="FF6B35"/>
              </a:gs>
              <a:gs pos="100000">
                <a:srgbClr val="CC4400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0" y="114300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맑은 고딕"/>
              </a:defRPr>
            </a:pPr>
            <a:r>
              <a:t>Paid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0" y="146304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맑은 고딕"/>
              </a:defRPr>
            </a:pPr>
            <a:r>
              <a:t>유료 미디어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20116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맑은 고딕"/>
              </a:defRPr>
            </a:pPr>
            <a:r>
              <a:t>비용을 지불한 광고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0" y="2377440"/>
            <a:ext cx="3200400" cy="25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0" y="25603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6B35"/>
                </a:solidFill>
                <a:latin typeface="맑은 고딕"/>
              </a:defRPr>
            </a:pPr>
            <a:r>
              <a:t>예시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28346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8B8CC"/>
                </a:solidFill>
                <a:latin typeface="맑은 고딕"/>
              </a:defRPr>
            </a:pPr>
            <a:r>
              <a:t>검색 광고, SNS 광고</a:t>
            </a:r>
            <a:br/>
            <a:r>
              <a:t>인플루언서 협업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38404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E696"/>
                </a:solidFill>
                <a:latin typeface="맑은 고딕"/>
              </a:defRPr>
            </a:pPr>
            <a:r>
              <a:t>장점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0" y="41148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8B8CC"/>
                </a:solidFill>
                <a:latin typeface="맑은 고딕"/>
              </a:defRPr>
            </a:pPr>
            <a:r>
              <a:t>즉각적 도달, 타겟팅 가능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0" y="47548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3585"/>
                </a:solidFill>
                <a:latin typeface="맑은 고딕"/>
              </a:defRPr>
            </a:pPr>
            <a:r>
              <a:t>단점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0" y="50292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8B8CC"/>
                </a:solidFill>
                <a:latin typeface="맑은 고딕"/>
              </a:defRPr>
            </a:pPr>
            <a:r>
              <a:t>비용 높음, 중단 시 소멸</a:t>
            </a:r>
          </a:p>
        </p:txBody>
      </p:sp>
    </p:spTree>
  </p:cSld>
  <p:clrMapOvr>
    <a:masterClrMapping/>
  </p:clrMapOvr>
  <p:transition spd="med">
    <p:fade thruBlk="0"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1">
                <a:tint val="100000"/>
                <a:shade val="100000"/>
                <a:satMod val="130000"/>
              </a:schemeClr>
            </a:gs>
            <a:gs pos="100000">
              <a:schemeClr val="accent1">
                <a:tint val="50000"/>
                <a:shade val="100000"/>
                <a:satMod val="350000"/>
              </a:schemeClr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gradFill>
            <a:gsLst>
              <a:gs pos="0">
                <a:srgbClr val="141E38"/>
              </a:gs>
              <a:gs pos="100000">
                <a:srgbClr val="1C2844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gradFill>
            <a:gsLst>
              <a:gs pos="0">
                <a:srgbClr val="00E696"/>
              </a:gs>
              <a:gs pos="100000">
                <a:srgbClr val="00AA6E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82880"/>
            <a:ext cx="1005840" cy="457200"/>
          </a:xfrm>
          <a:prstGeom prst="roundRect">
            <a:avLst/>
          </a:prstGeom>
          <a:solidFill>
            <a:srgbClr val="1C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E696"/>
                </a:solidFill>
                <a:latin typeface="맑은 고딕"/>
              </a:defRPr>
            </a:pPr>
            <a:r>
              <a:t>Day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FFFF"/>
                </a:solidFill>
                <a:latin typeface="맑은 고딕"/>
              </a:defRPr>
            </a:pPr>
            <a:r>
              <a:t>1교시: 초기 스타트업 채널 전략 3원칙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97280"/>
            <a:ext cx="11247120" cy="164592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371600"/>
            <a:ext cx="502920" cy="502920"/>
          </a:xfrm>
          <a:prstGeom prst="ellipse">
            <a:avLst/>
          </a:prstGeom>
          <a:gradFill>
            <a:gsLst>
              <a:gs pos="0">
                <a:srgbClr val="00E696"/>
              </a:gs>
              <a:gs pos="100000">
                <a:srgbClr val="00AA6E"/>
              </a:gs>
            </a:gsLst>
            <a:lin ang="81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9903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맑은 고딕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28016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한 채널에서 먼저 이기고, 그다음 확장하라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178308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8CC"/>
                </a:solidFill>
                <a:latin typeface="맑은 고딕"/>
              </a:defRPr>
            </a:pPr>
            <a:r>
              <a:t>모든 채널에 분산하면 어디서도 임팩트를 내지 못합니다.</a:t>
            </a:r>
            <a:br/>
            <a:r>
              <a:t>타겟이 가장 많이 모인 핵심 채널 1-2개에 집중하세요.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2926080"/>
            <a:ext cx="11247120" cy="164592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080" y="3200400"/>
            <a:ext cx="502920" cy="502920"/>
          </a:xfrm>
          <a:prstGeom prst="ellipse">
            <a:avLst/>
          </a:prstGeom>
          <a:gradFill>
            <a:gsLst>
              <a:gs pos="0">
                <a:srgbClr val="00D2FF"/>
              </a:gs>
              <a:gs pos="100000">
                <a:srgbClr val="0080CC"/>
              </a:gs>
            </a:gsLst>
            <a:lin ang="81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2783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맑은 고딕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10896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"우리가 잘하는 것"이 아니라 "고객이 있는 곳"을 따라가라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61188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8CC"/>
                </a:solidFill>
                <a:latin typeface="맑은 고딕"/>
              </a:defRPr>
            </a:pPr>
            <a:r>
              <a:t>페르소나의 정보 접근 채널(Day 2)이 채널 선택의 출발점입니다.</a:t>
            </a:r>
            <a:br/>
            <a:r>
              <a:t>예: 20대 대학생 → 에브리타임, 인스타그램 / 30대 직장인 → 블라인드, 뉴스레터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4754880"/>
            <a:ext cx="11247120" cy="164592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0080" y="5029200"/>
            <a:ext cx="502920" cy="502920"/>
          </a:xfrm>
          <a:prstGeom prst="ellipse">
            <a:avLst/>
          </a:prstGeom>
          <a:gradFill>
            <a:gsLst>
              <a:gs pos="0">
                <a:srgbClr val="7B2FF7"/>
              </a:gs>
              <a:gs pos="100000">
                <a:srgbClr val="5A1FBB"/>
              </a:gs>
            </a:gsLst>
            <a:lin ang="81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05663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맑은 고딕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93776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맑은 고딕"/>
              </a:defRPr>
            </a:pPr>
            <a:r>
              <a:t>초기에는 "스케일"보다 "학습"이 목적이다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544068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8CC"/>
                </a:solidFill>
                <a:latin typeface="맑은 고딕"/>
              </a:defRPr>
            </a:pPr>
            <a:r>
              <a:t>초기 채널 운영의 목적은 대량 트래픽이 아니라</a:t>
            </a:r>
            <a:br/>
            <a:r>
              <a:t>"우리 메시지가 타겟에게 통하는가?" 검증입니다.</a:t>
            </a:r>
          </a:p>
        </p:txBody>
      </p:sp>
    </p:spTree>
  </p:cSld>
  <p:clrMapOvr>
    <a:masterClrMapping/>
  </p:clrMapOvr>
  <p:transition spd="med">
    <p:fade thruBlk="0"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1">
                <a:tint val="100000"/>
                <a:shade val="100000"/>
                <a:satMod val="130000"/>
              </a:schemeClr>
            </a:gs>
            <a:gs pos="100000">
              <a:schemeClr val="accent1">
                <a:tint val="50000"/>
                <a:shade val="100000"/>
                <a:satMod val="350000"/>
              </a:schemeClr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gradFill>
            <a:gsLst>
              <a:gs pos="0">
                <a:srgbClr val="141E38"/>
              </a:gs>
              <a:gs pos="100000">
                <a:srgbClr val="1C2844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gradFill>
            <a:gsLst>
              <a:gs pos="0">
                <a:srgbClr val="00E696"/>
              </a:gs>
              <a:gs pos="100000">
                <a:srgbClr val="00AA6E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82880"/>
            <a:ext cx="1005840" cy="457200"/>
          </a:xfrm>
          <a:prstGeom prst="roundRect">
            <a:avLst/>
          </a:prstGeom>
          <a:solidFill>
            <a:srgbClr val="1C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E696"/>
                </a:solidFill>
                <a:latin typeface="맑은 고딕"/>
              </a:defRPr>
            </a:pPr>
            <a:r>
              <a:t>Day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FFFF"/>
                </a:solidFill>
                <a:latin typeface="맑은 고딕"/>
              </a:defRPr>
            </a:pPr>
            <a:r>
              <a:t>2교시: North Star Metric &amp; AARRR 퍼널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맑은 고딕"/>
              </a:defRPr>
            </a:pPr>
            <a:r>
              <a:t>North Star Metric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E696"/>
                </a:solidFill>
                <a:latin typeface="맑은 고딕"/>
              </a:defRPr>
            </a:pPr>
            <a:r>
              <a:t>서비스의 성공을 가장 잘 대변하는 단 하나의 지표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920240"/>
            <a:ext cx="2651760" cy="822960"/>
          </a:xfrm>
          <a:prstGeom prst="roundRect">
            <a:avLst/>
          </a:prstGeom>
          <a:solidFill>
            <a:srgbClr val="1C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920240"/>
            <a:ext cx="50800" cy="82296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659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E696"/>
                </a:solidFill>
                <a:latin typeface="맑은 고딕"/>
              </a:defRPr>
            </a:pPr>
            <a:r>
              <a:t>당근마켓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86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8B8CC"/>
                </a:solidFill>
                <a:latin typeface="맑은 고딕"/>
              </a:defRPr>
            </a:pPr>
            <a:r>
              <a:t>월간 거래 완료 건수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1920240"/>
            <a:ext cx="2651760" cy="822960"/>
          </a:xfrm>
          <a:prstGeom prst="roundRect">
            <a:avLst/>
          </a:prstGeom>
          <a:solidFill>
            <a:srgbClr val="1C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46120" y="1920240"/>
            <a:ext cx="50800" cy="82296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29000" y="19659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2FF"/>
                </a:solidFill>
                <a:latin typeface="맑은 고딕"/>
              </a:defRPr>
            </a:pPr>
            <a:r>
              <a:t>토스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2286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8B8CC"/>
                </a:solidFill>
                <a:latin typeface="맑은 고딕"/>
              </a:defRPr>
            </a:pPr>
            <a:r>
              <a:t>월간 활성 사용자(MAU)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1920240"/>
            <a:ext cx="2651760" cy="822960"/>
          </a:xfrm>
          <a:prstGeom prst="roundRect">
            <a:avLst/>
          </a:prstGeom>
          <a:solidFill>
            <a:srgbClr val="1C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920240"/>
            <a:ext cx="50800" cy="8229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9659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6B35"/>
                </a:solidFill>
                <a:latin typeface="맑은 고딕"/>
              </a:defRPr>
            </a:pPr>
            <a:r>
              <a:t>배달의민족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286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8B8CC"/>
                </a:solidFill>
                <a:latin typeface="맑은 고딕"/>
              </a:defRPr>
            </a:pPr>
            <a:r>
              <a:t>월간 주문 건수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06840" y="1920240"/>
            <a:ext cx="2651760" cy="822960"/>
          </a:xfrm>
          <a:prstGeom prst="roundRect">
            <a:avLst/>
          </a:prstGeom>
          <a:solidFill>
            <a:srgbClr val="1C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06840" y="1920240"/>
            <a:ext cx="50800" cy="822960"/>
          </a:xfrm>
          <a:prstGeom prst="rect">
            <a:avLst/>
          </a:prstGeom>
          <a:solidFill>
            <a:srgbClr val="7B2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9720" y="19659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B2FF7"/>
                </a:solidFill>
                <a:latin typeface="맑은 고딕"/>
              </a:defRPr>
            </a:pPr>
            <a:r>
              <a:t>뤼튼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2286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8B8CC"/>
                </a:solidFill>
                <a:latin typeface="맑은 고딕"/>
              </a:defRPr>
            </a:pPr>
            <a:r>
              <a:t>일간 대화 생성 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맑은 고딕"/>
              </a:defRPr>
            </a:pPr>
            <a:r>
              <a:t>AARRR 퍼널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365760" y="3474720"/>
          <a:ext cx="6400800" cy="31089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7132320" y="3474720"/>
            <a:ext cx="4572000" cy="310896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0" y="35661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맑은 고딕"/>
              </a:defRPr>
            </a:pPr>
            <a:r>
              <a:t>각 단계별 핵심 KPI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886200"/>
            <a:ext cx="1828800" cy="25400"/>
          </a:xfrm>
          <a:prstGeom prst="rect">
            <a:avLst/>
          </a:prstGeom>
          <a:gradFill>
            <a:gsLst>
              <a:gs pos="0">
                <a:srgbClr val="00E696"/>
              </a:gs>
              <a:gs pos="100000">
                <a:srgbClr val="00AA6E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0" y="411480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D2FF"/>
                </a:solidFill>
                <a:latin typeface="맑은 고딕"/>
              </a:defRPr>
            </a:pPr>
            <a:r>
              <a:t>Acquisition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4114800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8B8CC"/>
                </a:solidFill>
                <a:latin typeface="맑은 고딕"/>
              </a:defRPr>
            </a:pPr>
            <a:r>
              <a:t>앱 다운로드, 방문 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4590288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7B2FF7"/>
                </a:solidFill>
                <a:latin typeface="맑은 고딕"/>
              </a:defRPr>
            </a:pPr>
            <a:r>
              <a:t>Activation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2560" y="4590288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8B8CC"/>
                </a:solidFill>
                <a:latin typeface="맑은 고딕"/>
              </a:defRPr>
            </a:pPr>
            <a:r>
              <a:t>가입 완료율, 첫 거래율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5065776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E696"/>
                </a:solidFill>
                <a:latin typeface="맑은 고딕"/>
              </a:defRPr>
            </a:pPr>
            <a:r>
              <a:t>Retention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52560" y="5065776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8B8CC"/>
                </a:solidFill>
                <a:latin typeface="맑은 고딕"/>
              </a:defRPr>
            </a:pPr>
            <a:r>
              <a:t>DAU/MAU, 7일 리텐션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5541264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6B35"/>
                </a:solidFill>
                <a:latin typeface="맑은 고딕"/>
              </a:defRPr>
            </a:pPr>
            <a:r>
              <a:t>Revenue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52560" y="5541264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8B8CC"/>
                </a:solidFill>
                <a:latin typeface="맑은 고딕"/>
              </a:defRPr>
            </a:pPr>
            <a:r>
              <a:t>ARPU, 결제 전환율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0" y="6016752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3585"/>
                </a:solidFill>
                <a:latin typeface="맑은 고딕"/>
              </a:defRPr>
            </a:pPr>
            <a:r>
              <a:t>Referral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52560" y="6016752"/>
            <a:ext cx="2468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8B8CC"/>
                </a:solidFill>
                <a:latin typeface="맑은 고딕"/>
              </a:defRPr>
            </a:pPr>
            <a:r>
              <a:t>추천 코드 사용률, NPS</a:t>
            </a:r>
          </a:p>
        </p:txBody>
      </p:sp>
    </p:spTree>
  </p:cSld>
  <p:clrMapOvr>
    <a:masterClrMapping/>
  </p:clrMapOvr>
  <p:transition spd="med">
    <p:fade thruBlk="0"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1">
                <a:tint val="100000"/>
                <a:shade val="100000"/>
                <a:satMod val="130000"/>
              </a:schemeClr>
            </a:gs>
            <a:gs pos="100000">
              <a:schemeClr val="accent1">
                <a:tint val="50000"/>
                <a:shade val="100000"/>
                <a:satMod val="350000"/>
              </a:schemeClr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400800" y="-914400"/>
            <a:ext cx="5486400" cy="5486400"/>
          </a:xfrm>
          <a:prstGeom prst="ellipse">
            <a:avLst/>
          </a:prstGeom>
          <a:solidFill>
            <a:srgbClr val="FF3585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3657600"/>
            <a:ext cx="3657600" cy="3657600"/>
          </a:xfrm>
          <a:prstGeom prst="ellipse">
            <a:avLst/>
          </a:prstGeom>
          <a:solidFill>
            <a:srgbClr val="CC1A66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gradFill>
            <a:gsLst>
              <a:gs pos="0">
                <a:srgbClr val="FF3585"/>
              </a:gs>
              <a:gs pos="100000">
                <a:srgbClr val="CC1A66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F3585"/>
                </a:solidFill>
                <a:latin typeface="맑은 고딕"/>
              </a:defRPr>
            </a:pPr>
            <a:r>
              <a:t>Day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맑은 고딕"/>
              </a:defRPr>
            </a:pPr>
            <a:r>
              <a:t>런칭 이후의 운영 팁과 "취업 무기"로 만드는 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8B8CC"/>
                </a:solidFill>
                <a:latin typeface="맑은 고딕"/>
              </a:defRPr>
            </a:pPr>
            <a:r>
              <a:t>총 3시간  |  강사 노하우 + 취업 전략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114800"/>
            <a:ext cx="3657600" cy="38100"/>
          </a:xfrm>
          <a:prstGeom prst="rect">
            <a:avLst/>
          </a:prstGeom>
          <a:gradFill>
            <a:gsLst>
              <a:gs pos="0">
                <a:srgbClr val="FF3585"/>
              </a:gs>
              <a:gs pos="100000">
                <a:srgbClr val="CC1A66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4572000"/>
            <a:ext cx="822960" cy="411480"/>
          </a:xfrm>
          <a:prstGeom prst="roundRect">
            <a:avLst/>
          </a:prstGeom>
          <a:solidFill>
            <a:srgbClr val="1C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61772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3585"/>
                </a:solidFill>
                <a:latin typeface="맑은 고딕"/>
              </a:defRPr>
            </a:pPr>
            <a:r>
              <a:t>1교시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61772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8CC"/>
                </a:solidFill>
                <a:latin typeface="맑은 고딕"/>
              </a:defRPr>
            </a:pPr>
            <a:r>
              <a:t>GTM 런칭은 끝이 아닌 시작 — 전략적 데이터 트래킹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46177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70708C"/>
                </a:solidFill>
                <a:latin typeface="맑은 고딕"/>
              </a:defRPr>
            </a:pPr>
            <a:r>
              <a:t>50분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5212080"/>
            <a:ext cx="822960" cy="411480"/>
          </a:xfrm>
          <a:prstGeom prst="roundRect">
            <a:avLst/>
          </a:prstGeom>
          <a:solidFill>
            <a:srgbClr val="1C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25780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3585"/>
                </a:solidFill>
                <a:latin typeface="맑은 고딕"/>
              </a:defRPr>
            </a:pPr>
            <a:r>
              <a:t>2교시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525780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8CC"/>
                </a:solidFill>
                <a:latin typeface="맑은 고딕"/>
              </a:defRPr>
            </a:pPr>
            <a:r>
              <a:t>AI와 데이터로 업무 임팩트 극대화하기 (AX 노하우)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5257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70708C"/>
                </a:solidFill>
                <a:latin typeface="맑은 고딕"/>
              </a:defRPr>
            </a:pPr>
            <a:r>
              <a:t>50분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5852160"/>
            <a:ext cx="822960" cy="411480"/>
          </a:xfrm>
          <a:prstGeom prst="roundRect">
            <a:avLst/>
          </a:prstGeom>
          <a:solidFill>
            <a:srgbClr val="1C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8978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3585"/>
                </a:solidFill>
                <a:latin typeface="맑은 고딕"/>
              </a:defRPr>
            </a:pPr>
            <a:r>
              <a:t>3교시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589788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8CC"/>
                </a:solidFill>
                <a:latin typeface="맑은 고딕"/>
              </a:defRPr>
            </a:pPr>
            <a:r>
              <a:t>사수 없는 주니어의 GTM 면접/취업 전략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58978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70708C"/>
                </a:solidFill>
                <a:latin typeface="맑은 고딕"/>
              </a:defRPr>
            </a:pPr>
            <a:r>
              <a:t>50분</a:t>
            </a:r>
          </a:p>
        </p:txBody>
      </p:sp>
    </p:spTree>
  </p:cSld>
  <p:clrMapOvr>
    <a:masterClrMapping/>
  </p:clrMapOvr>
  <p:transition spd="med">
    <p:fade thruBlk="0"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1">
                <a:tint val="100000"/>
                <a:shade val="100000"/>
                <a:satMod val="130000"/>
              </a:schemeClr>
            </a:gs>
            <a:gs pos="100000">
              <a:schemeClr val="accent1">
                <a:tint val="50000"/>
                <a:shade val="100000"/>
                <a:satMod val="350000"/>
              </a:schemeClr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gradFill>
            <a:gsLst>
              <a:gs pos="0">
                <a:srgbClr val="141E38"/>
              </a:gs>
              <a:gs pos="100000">
                <a:srgbClr val="1C2844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gradFill>
            <a:gsLst>
              <a:gs pos="0">
                <a:srgbClr val="FF3585"/>
              </a:gs>
              <a:gs pos="100000">
                <a:srgbClr val="CC1A66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82880"/>
            <a:ext cx="1005840" cy="457200"/>
          </a:xfrm>
          <a:prstGeom prst="roundRect">
            <a:avLst/>
          </a:prstGeom>
          <a:solidFill>
            <a:srgbClr val="1C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3585"/>
                </a:solidFill>
                <a:latin typeface="맑은 고딕"/>
              </a:defRPr>
            </a:pPr>
            <a:r>
              <a:t>Day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FFFF"/>
                </a:solidFill>
                <a:latin typeface="맑은 고딕"/>
              </a:defRPr>
            </a:pPr>
            <a:r>
              <a:t>1교시: 데이터 기반 의사결정 — So What? → Now What?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51560"/>
            <a:ext cx="11247120" cy="914400"/>
          </a:xfrm>
          <a:prstGeom prst="round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09728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50"/>
              </a:spcAft>
            </a:pPr>
            <a:r>
              <a:rPr sz="2000" b="1" i="0">
                <a:solidFill>
                  <a:srgbClr val="FF3585"/>
                </a:solidFill>
                <a:latin typeface="맑은 고딕"/>
              </a:rPr>
              <a:t>So What?  </a:t>
            </a:r>
            <a:r>
              <a:rPr sz="1600" b="0" i="0">
                <a:solidFill>
                  <a:srgbClr val="FFFFFF"/>
                </a:solidFill>
                <a:latin typeface="맑은 고딕"/>
              </a:rPr>
              <a:t>이 데이터가 의미하는 바는?     </a:t>
            </a:r>
            <a:r>
              <a:rPr sz="2000" b="1" i="0">
                <a:solidFill>
                  <a:srgbClr val="00E696"/>
                </a:solidFill>
                <a:latin typeface="맑은 고딕"/>
              </a:rPr>
              <a:t>Now What?  </a:t>
            </a:r>
            <a:r>
              <a:rPr sz="1600" b="0" i="0">
                <a:solidFill>
                  <a:srgbClr val="FFFFFF"/>
                </a:solidFill>
                <a:latin typeface="맑은 고딕"/>
              </a:rPr>
              <a:t>그래서 우리가 해야 할 액션은?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194560"/>
            <a:ext cx="4114800" cy="201168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2860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D2FF"/>
                </a:solidFill>
                <a:latin typeface="맑은 고딕"/>
              </a:defRPr>
            </a:pPr>
            <a:r>
              <a:t>상황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5176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50"/>
              </a:spcAft>
              <a:defRPr sz="1400" b="1" i="0">
                <a:solidFill>
                  <a:srgbClr val="FFFFFF"/>
                </a:solidFill>
                <a:latin typeface="맑은 고딕"/>
              </a:defRPr>
            </a:pPr>
            <a:r>
              <a:t>랜딩페이지 방문자 1,000명</a:t>
            </a:r>
          </a:p>
          <a:p>
            <a:pPr>
              <a:spcAft>
                <a:spcPts val="650"/>
              </a:spcAft>
              <a:defRPr sz="1400" b="1" i="0">
                <a:solidFill>
                  <a:srgbClr val="FF3585"/>
                </a:solidFill>
                <a:latin typeface="맑은 고딕"/>
              </a:defRPr>
            </a:pPr>
            <a:r>
              <a:t>회원가입 30명 (전환율 3%)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4389120"/>
            <a:ext cx="4114800" cy="137160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4805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3585"/>
                </a:solidFill>
                <a:latin typeface="맑은 고딕"/>
              </a:defRPr>
            </a:pPr>
            <a:r>
              <a:t>So What?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4632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50"/>
              </a:spcAft>
              <a:defRPr sz="1300" b="0" i="0">
                <a:solidFill>
                  <a:srgbClr val="B8B8CC"/>
                </a:solidFill>
                <a:latin typeface="맑은 고딕"/>
              </a:defRPr>
            </a:pPr>
            <a:r>
              <a:t>업계 평균(5-10%)보다 낮음</a:t>
            </a:r>
          </a:p>
          <a:p>
            <a:pPr>
              <a:spcAft>
                <a:spcPts val="650"/>
              </a:spcAft>
              <a:defRPr sz="1300" b="0" i="0">
                <a:solidFill>
                  <a:srgbClr val="B8B8CC"/>
                </a:solidFill>
                <a:latin typeface="맑은 고딕"/>
              </a:defRPr>
            </a:pPr>
            <a:r>
              <a:t>유입은 되지만 가입 전에 이탈 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0" y="2194560"/>
            <a:ext cx="6675120" cy="356616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0" y="22860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E696"/>
                </a:solidFill>
                <a:latin typeface="맑은 고딕"/>
              </a:defRPr>
            </a:pPr>
            <a:r>
              <a:t>Now What? (가능한 액션)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12080" y="2606040"/>
            <a:ext cx="1828800" cy="25400"/>
          </a:xfrm>
          <a:prstGeom prst="rect">
            <a:avLst/>
          </a:prstGeom>
          <a:gradFill>
            <a:gsLst>
              <a:gs pos="0">
                <a:srgbClr val="00E696"/>
              </a:gs>
              <a:gs pos="100000">
                <a:srgbClr val="00AA6E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212080" y="2834640"/>
            <a:ext cx="320040" cy="320040"/>
          </a:xfrm>
          <a:prstGeom prst="ellipse">
            <a:avLst/>
          </a:prstGeom>
          <a:gradFill>
            <a:gsLst>
              <a:gs pos="0">
                <a:srgbClr val="00E696"/>
              </a:gs>
              <a:gs pos="100000">
                <a:srgbClr val="00AA6E"/>
              </a:gs>
            </a:gsLst>
            <a:lin ang="81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0" y="2862072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28346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맑은 고딕"/>
              </a:defRPr>
            </a:pPr>
            <a:r>
              <a:t>랜딩페이지 카피가 타겟과 미스매치?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31363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E696"/>
                </a:solidFill>
                <a:latin typeface="맑은 고딕"/>
              </a:defRPr>
            </a:pPr>
            <a:r>
              <a:t>→ A/B 테스트로 카피 변경 검증</a:t>
            </a:r>
          </a:p>
        </p:txBody>
      </p:sp>
      <p:sp>
        <p:nvSpPr>
          <p:cNvPr id="22" name="Oval 21"/>
          <p:cNvSpPr/>
          <p:nvPr/>
        </p:nvSpPr>
        <p:spPr>
          <a:xfrm>
            <a:off x="5212080" y="3703320"/>
            <a:ext cx="320040" cy="320040"/>
          </a:xfrm>
          <a:prstGeom prst="ellipse">
            <a:avLst/>
          </a:prstGeom>
          <a:gradFill>
            <a:gsLst>
              <a:gs pos="0">
                <a:srgbClr val="00E696"/>
              </a:gs>
              <a:gs pos="100000">
                <a:srgbClr val="00AA6E"/>
              </a:gs>
            </a:gsLst>
            <a:lin ang="81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12080" y="3730752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37033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맑은 고딕"/>
              </a:defRPr>
            </a:pPr>
            <a:r>
              <a:t>가입 과정이 복잡?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40050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E696"/>
                </a:solidFill>
                <a:latin typeface="맑은 고딕"/>
              </a:defRPr>
            </a:pPr>
            <a:r>
              <a:t>→ 가입 단계 축소 검토</a:t>
            </a:r>
          </a:p>
        </p:txBody>
      </p:sp>
      <p:sp>
        <p:nvSpPr>
          <p:cNvPr id="26" name="Oval 25"/>
          <p:cNvSpPr/>
          <p:nvPr/>
        </p:nvSpPr>
        <p:spPr>
          <a:xfrm>
            <a:off x="5212080" y="4572000"/>
            <a:ext cx="320040" cy="320040"/>
          </a:xfrm>
          <a:prstGeom prst="ellipse">
            <a:avLst/>
          </a:prstGeom>
          <a:gradFill>
            <a:gsLst>
              <a:gs pos="0">
                <a:srgbClr val="00E696"/>
              </a:gs>
              <a:gs pos="100000">
                <a:srgbClr val="00AA6E"/>
              </a:gs>
            </a:gsLst>
            <a:lin ang="81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2080" y="4599432"/>
            <a:ext cx="320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0" y="45720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맑은 고딕"/>
              </a:defRPr>
            </a:pPr>
            <a:r>
              <a:t>가치 제안이 불명확?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0" y="48737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E696"/>
                </a:solidFill>
                <a:latin typeface="맑은 고딕"/>
              </a:defRPr>
            </a:pPr>
            <a:r>
              <a:t>→ 히어로 섹션 메시지 변경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5943600"/>
            <a:ext cx="11247120" cy="73152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5989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50"/>
              </a:spcAft>
            </a:pPr>
            <a:r>
              <a:rPr sz="1400" b="1" i="0">
                <a:solidFill>
                  <a:srgbClr val="FF6B35"/>
                </a:solidFill>
                <a:latin typeface="맑은 고딕"/>
              </a:rPr>
              <a:t>ICE 스코어링: </a:t>
            </a:r>
            <a:r>
              <a:rPr sz="1300" b="0" i="0">
                <a:solidFill>
                  <a:srgbClr val="FFFFFF"/>
                </a:solidFill>
                <a:latin typeface="맑은 고딕"/>
              </a:rPr>
              <a:t>Impact(1-10) + Confidence(1-10) + Ease(1-10) ÷ 3 = </a:t>
            </a:r>
            <a:r>
              <a:rPr sz="1300" b="1" i="0">
                <a:solidFill>
                  <a:srgbClr val="00E696"/>
                </a:solidFill>
                <a:latin typeface="맑은 고딕"/>
              </a:rPr>
              <a:t>높은 순서대로 실행</a:t>
            </a:r>
          </a:p>
        </p:txBody>
      </p:sp>
    </p:spTree>
  </p:cSld>
  <p:clrMapOvr>
    <a:masterClrMapping/>
  </p:clrMapOvr>
  <p:transition spd="med">
    <p:fade thruBlk="0"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1">
                <a:tint val="100000"/>
                <a:shade val="100000"/>
                <a:satMod val="130000"/>
              </a:schemeClr>
            </a:gs>
            <a:gs pos="100000">
              <a:schemeClr val="accent1">
                <a:tint val="50000"/>
                <a:shade val="100000"/>
                <a:satMod val="350000"/>
              </a:schemeClr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gradFill>
            <a:gsLst>
              <a:gs pos="0">
                <a:srgbClr val="141E38"/>
              </a:gs>
              <a:gs pos="100000">
                <a:srgbClr val="1C2844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100"/>
          </a:xfrm>
          <a:prstGeom prst="rect">
            <a:avLst/>
          </a:prstGeom>
          <a:gradFill>
            <a:gsLst>
              <a:gs pos="0">
                <a:srgbClr val="FF3585"/>
              </a:gs>
              <a:gs pos="100000">
                <a:srgbClr val="CC1A66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82880"/>
            <a:ext cx="1005840" cy="457200"/>
          </a:xfrm>
          <a:prstGeom prst="roundRect">
            <a:avLst/>
          </a:prstGeom>
          <a:solidFill>
            <a:srgbClr val="1C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3585"/>
                </a:solidFill>
                <a:latin typeface="맑은 고딕"/>
              </a:defRPr>
            </a:pPr>
            <a:r>
              <a:t>Day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01168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FFFF"/>
                </a:solidFill>
                <a:latin typeface="맑은 고딕"/>
              </a:defRPr>
            </a:pPr>
            <a:r>
              <a:t>3교시: GTM 역량을 취업 무기로 만드는 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051560"/>
            <a:ext cx="11247120" cy="548640"/>
          </a:xfrm>
          <a:prstGeom prst="round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0972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3585"/>
                </a:solidFill>
                <a:latin typeface="맑은 고딕"/>
              </a:defRPr>
            </a:pPr>
            <a:r>
              <a:t>면접관이 보고 싶은 것: "경험의 양"이 아닌 "사고의 깊이"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783080"/>
            <a:ext cx="5303520" cy="228600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783080"/>
            <a:ext cx="5303520" cy="411480"/>
          </a:xfrm>
          <a:prstGeom prst="rect">
            <a:avLst/>
          </a:prstGeom>
          <a:gradFill>
            <a:gsLst>
              <a:gs pos="0">
                <a:srgbClr val="FF3585"/>
              </a:gs>
              <a:gs pos="100000">
                <a:srgbClr val="CC1A66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81051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BEFORE (흔한 작성법)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77440"/>
            <a:ext cx="4754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8CC"/>
                </a:solidFill>
                <a:latin typeface="맑은 고딕"/>
              </a:defRPr>
            </a:pPr>
            <a:r>
              <a:t>"마케팅에 관심이 많고, 다양한 마케팅 관련 강의를 수강했습니다. SNS 마케팅과 콘텐츠 기획에 관심이 있습니다."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1783080"/>
            <a:ext cx="5303520" cy="228600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92240" y="1783080"/>
            <a:ext cx="5303520" cy="411480"/>
          </a:xfrm>
          <a:prstGeom prst="rect">
            <a:avLst/>
          </a:prstGeom>
          <a:gradFill>
            <a:gsLst>
              <a:gs pos="0">
                <a:srgbClr val="00E696"/>
              </a:gs>
              <a:gs pos="100000">
                <a:srgbClr val="00AA6E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81051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AFTER (GTM 역량 기반)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377440"/>
            <a:ext cx="4754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맑은 고딕"/>
              </a:defRPr>
            </a:pPr>
            <a:r>
              <a:t>"[서비스명]의 GTM 전략을 분석하며, 타겟 고객의 행동 데이터를 기반으로 핵심 페인포인트를 도출하고, 가치 제안과 메시징 전략을 수립한 경험이 있습니다. 앱스토어 리뷰 100건을 분석하여 3개의 핵심 불만 패턴을 발견하고, A/B 테스트 가설을 설계했습니다."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297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맑은 고딕"/>
              </a:defRPr>
            </a:pPr>
            <a:r>
              <a:t>실무 경험 없이도 보여줄 수 있는 4가지 역량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754880"/>
            <a:ext cx="2651760" cy="182880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754880"/>
            <a:ext cx="2651760" cy="38100"/>
          </a:xfrm>
          <a:prstGeom prst="rect">
            <a:avLst/>
          </a:prstGeom>
          <a:gradFill>
            <a:gsLst>
              <a:gs pos="0">
                <a:srgbClr val="00D2FF"/>
              </a:gs>
              <a:gs pos="100000">
                <a:srgbClr val="0080CC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9834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D2FF"/>
                </a:solidFill>
                <a:latin typeface="맑은 고딕"/>
              </a:defRPr>
            </a:pPr>
            <a:r>
              <a:t>시장을 보는 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39496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8B8CC"/>
                </a:solidFill>
                <a:latin typeface="맑은 고딕"/>
              </a:defRPr>
            </a:pPr>
            <a:r>
              <a:t>트렌드와 기회를</a:t>
            </a:r>
            <a:br/>
            <a:r>
              <a:t>분석하는 능력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46120" y="4754880"/>
            <a:ext cx="2651760" cy="182880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46120" y="4754880"/>
            <a:ext cx="2651760" cy="38100"/>
          </a:xfrm>
          <a:prstGeom prst="rect">
            <a:avLst/>
          </a:prstGeom>
          <a:gradFill>
            <a:gsLst>
              <a:gs pos="0">
                <a:srgbClr val="7B2FF7"/>
              </a:gs>
              <a:gs pos="100000">
                <a:srgbClr val="5A1FBB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83280" y="49834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7B2FF7"/>
                </a:solidFill>
                <a:latin typeface="맑은 고딕"/>
              </a:defRPr>
            </a:pPr>
            <a:r>
              <a:t>고객 이해력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539496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8B8CC"/>
                </a:solidFill>
                <a:latin typeface="맑은 고딕"/>
              </a:defRPr>
            </a:pPr>
            <a:r>
              <a:t>타겟과 페인포인트를</a:t>
            </a:r>
            <a:br/>
            <a:r>
              <a:t>정의하는 능력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26480" y="4754880"/>
            <a:ext cx="2651760" cy="182880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6480" y="4754880"/>
            <a:ext cx="2651760" cy="38100"/>
          </a:xfrm>
          <a:prstGeom prst="rect">
            <a:avLst/>
          </a:prstGeom>
          <a:gradFill>
            <a:gsLst>
              <a:gs pos="0">
                <a:srgbClr val="00E696"/>
              </a:gs>
              <a:gs pos="100000">
                <a:srgbClr val="00AA6E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49834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E696"/>
                </a:solidFill>
                <a:latin typeface="맑은 고딕"/>
              </a:defRPr>
            </a:pPr>
            <a:r>
              <a:t>논리적 사고력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539496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8B8CC"/>
                </a:solidFill>
                <a:latin typeface="맑은 고딕"/>
              </a:defRPr>
            </a:pPr>
            <a:r>
              <a:t>가설을 데이터로</a:t>
            </a:r>
            <a:br/>
            <a:r>
              <a:t>검증하는 능력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4754880"/>
            <a:ext cx="2651760" cy="182880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4754880"/>
            <a:ext cx="2651760" cy="38100"/>
          </a:xfrm>
          <a:prstGeom prst="rect">
            <a:avLst/>
          </a:prstGeom>
          <a:gradFill>
            <a:gsLst>
              <a:gs pos="0">
                <a:srgbClr val="FF6B35"/>
              </a:gs>
              <a:gs pos="100000">
                <a:srgbClr val="CC4400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0" y="498348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6B35"/>
                </a:solidFill>
                <a:latin typeface="맑은 고딕"/>
              </a:defRPr>
            </a:pPr>
            <a:r>
              <a:t>실행 의지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539496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B8B8CC"/>
                </a:solidFill>
                <a:latin typeface="맑은 고딕"/>
              </a:defRPr>
            </a:pPr>
            <a:r>
              <a:t>AI를 활용해 직접</a:t>
            </a:r>
            <a:br/>
            <a:r>
              <a:t>분석한 경험</a:t>
            </a:r>
          </a:p>
        </p:txBody>
      </p:sp>
    </p:spTree>
  </p:cSld>
  <p:clrMapOvr>
    <a:masterClrMapping/>
  </p:clrMapOvr>
  <p:transition spd="med">
    <p:fade thruBlk="0"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1">
                <a:tint val="100000"/>
                <a:shade val="100000"/>
                <a:satMod val="130000"/>
              </a:schemeClr>
            </a:gs>
            <a:gs pos="100000">
              <a:schemeClr val="accent1">
                <a:tint val="50000"/>
                <a:shade val="100000"/>
                <a:satMod val="350000"/>
              </a:schemeClr>
            </a:gs>
          </a:gsLst>
          <a:lin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2743200"/>
            <a:ext cx="5486400" cy="5486400"/>
          </a:xfrm>
          <a:prstGeom prst="ellipse">
            <a:avLst/>
          </a:prstGeom>
          <a:solidFill>
            <a:srgbClr val="7B2FF7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-914400"/>
            <a:ext cx="3657600" cy="3657600"/>
          </a:xfrm>
          <a:prstGeom prst="ellipse">
            <a:avLst/>
          </a:prstGeom>
          <a:solidFill>
            <a:srgbClr val="00D2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gradFill>
            <a:gsLst>
              <a:gs pos="0">
                <a:srgbClr val="00D2FF"/>
              </a:gs>
              <a:gs pos="100000">
                <a:srgbClr val="7B2FF7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맑은 고딕"/>
              </a:defRPr>
            </a:pPr>
            <a:r>
              <a:t>5일간의 핵심 키워드 &amp; 프레임워크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2743200" cy="38100"/>
          </a:xfrm>
          <a:prstGeom prst="rect">
            <a:avLst/>
          </a:prstGeom>
          <a:gradFill>
            <a:gsLst>
              <a:gs pos="0">
                <a:srgbClr val="00D2FF"/>
              </a:gs>
              <a:gs pos="100000">
                <a:srgbClr val="7B2FF7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11247120" cy="73152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0800" cy="7315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508760"/>
            <a:ext cx="914400" cy="411480"/>
          </a:xfrm>
          <a:prstGeom prst="roundRect">
            <a:avLst/>
          </a:prstGeom>
          <a:gradFill>
            <a:gsLst>
              <a:gs pos="0">
                <a:srgbClr val="00D2FF"/>
              </a:gs>
              <a:gs pos="100000">
                <a:srgbClr val="0080CC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52704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Day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148132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GTM의 뼈대, 가설 검증 사고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173736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8B8CC"/>
                </a:solidFill>
                <a:latin typeface="맑은 고딕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5303520" y="1536192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8B8CC"/>
                </a:solidFill>
                <a:latin typeface="맑은 고딕"/>
              </a:defRPr>
            </a:pPr>
            <a:r>
              <a:t>GTM 5대 요소 | 가설 검증 사이클 | 프롬프트 3원칙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240280"/>
            <a:ext cx="11247120" cy="73152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240280"/>
            <a:ext cx="50800" cy="731520"/>
          </a:xfrm>
          <a:prstGeom prst="rect">
            <a:avLst/>
          </a:prstGeom>
          <a:solidFill>
            <a:srgbClr val="7B2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2377440"/>
            <a:ext cx="914400" cy="411480"/>
          </a:xfrm>
          <a:prstGeom prst="roundRect">
            <a:avLst/>
          </a:prstGeom>
          <a:gradFill>
            <a:gsLst>
              <a:gs pos="0">
                <a:srgbClr val="7B2FF7"/>
              </a:gs>
              <a:gs pos="100000">
                <a:srgbClr val="5A1FBB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39572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Day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235000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타겟 정의, 페인포인트 발굴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260604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8B8CC"/>
                </a:solidFill>
                <a:latin typeface="맑은 고딕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303520" y="2404872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8B8CC"/>
                </a:solidFill>
                <a:latin typeface="맑은 고딕"/>
              </a:defRPr>
            </a:pPr>
            <a:r>
              <a:t>세분화 4기준 | 페르소나 5요소 | Pain Point 3유형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108960"/>
            <a:ext cx="11247120" cy="73152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108960"/>
            <a:ext cx="50800" cy="7315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1520" y="3246120"/>
            <a:ext cx="914400" cy="411480"/>
          </a:xfrm>
          <a:prstGeom prst="roundRect">
            <a:avLst/>
          </a:prstGeom>
          <a:gradFill>
            <a:gsLst>
              <a:gs pos="0">
                <a:srgbClr val="FF6B35"/>
              </a:gs>
              <a:gs pos="100000">
                <a:srgbClr val="CC4400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26440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Day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321868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가치 제안, 포지셔닝, 메시징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347472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8B8CC"/>
                </a:solidFill>
                <a:latin typeface="맑은 고딕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5303520" y="3273552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8B8CC"/>
                </a:solidFill>
                <a:latin typeface="맑은 고딕"/>
              </a:defRPr>
            </a:pPr>
            <a:r>
              <a:t>VP Canvas | 포지셔닝 공식 | 카피라이팅 4원칙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977640"/>
            <a:ext cx="11247120" cy="73152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3977640"/>
            <a:ext cx="50800" cy="73152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1520" y="4114800"/>
            <a:ext cx="914400" cy="411480"/>
          </a:xfrm>
          <a:prstGeom prst="roundRect">
            <a:avLst/>
          </a:prstGeom>
          <a:gradFill>
            <a:gsLst>
              <a:gs pos="0">
                <a:srgbClr val="00E696"/>
              </a:gs>
              <a:gs pos="100000">
                <a:srgbClr val="00AA6E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1330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Day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408736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채널 전략, KPI 설정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43434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8B8CC"/>
                </a:solidFill>
                <a:latin typeface="맑은 고딕"/>
              </a:defRPr>
            </a:pPr>
          </a:p>
        </p:txBody>
      </p:sp>
      <p:sp>
        <p:nvSpPr>
          <p:cNvPr id="34" name="TextBox 33"/>
          <p:cNvSpPr txBox="1"/>
          <p:nvPr/>
        </p:nvSpPr>
        <p:spPr>
          <a:xfrm>
            <a:off x="5303520" y="4142232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8B8CC"/>
                </a:solidFill>
                <a:latin typeface="맑은 고딕"/>
              </a:defRPr>
            </a:pPr>
            <a:r>
              <a:t>O/E/P 미디어 | North Star Metric | AARRR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4846320"/>
            <a:ext cx="11247120" cy="731520"/>
          </a:xfrm>
          <a:prstGeom prst="roundRect">
            <a:avLst/>
          </a:prstGeom>
          <a:solidFill>
            <a:srgbClr val="1C2844"/>
          </a:soli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4846320"/>
            <a:ext cx="50800" cy="731520"/>
          </a:xfrm>
          <a:prstGeom prst="rect">
            <a:avLst/>
          </a:prstGeom>
          <a:solidFill>
            <a:srgbClr val="FF35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4983480"/>
            <a:ext cx="914400" cy="411480"/>
          </a:xfrm>
          <a:prstGeom prst="roundRect">
            <a:avLst/>
          </a:prstGeom>
          <a:gradFill>
            <a:gsLst>
              <a:gs pos="0">
                <a:srgbClr val="FF3585"/>
              </a:gs>
              <a:gs pos="100000">
                <a:srgbClr val="CC1A66"/>
              </a:gs>
            </a:gsLst>
            <a:lin ang="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500176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맑은 고딕"/>
              </a:defRPr>
            </a:pPr>
            <a:r>
              <a:t>Day 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28800" y="495604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맑은 고딕"/>
              </a:defRPr>
            </a:pPr>
            <a:r>
              <a:t>데이터 운영, 취업 연결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28800" y="521208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8B8CC"/>
                </a:solidFill>
                <a:latin typeface="맑은 고딕"/>
              </a:defRPr>
            </a:pPr>
          </a:p>
        </p:txBody>
      </p:sp>
      <p:sp>
        <p:nvSpPr>
          <p:cNvPr id="41" name="TextBox 40"/>
          <p:cNvSpPr txBox="1"/>
          <p:nvPr/>
        </p:nvSpPr>
        <p:spPr>
          <a:xfrm>
            <a:off x="5303520" y="5010912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8B8CC"/>
                </a:solidFill>
                <a:latin typeface="맑은 고딕"/>
              </a:defRPr>
            </a:pPr>
            <a:r>
              <a:t>So What/Now What | ICE 스코어링 | STAR 기법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5760720"/>
            <a:ext cx="11247120" cy="822960"/>
          </a:xfrm>
          <a:prstGeom prst="roundRect">
            <a:avLst/>
          </a:prstGeom>
          <a:gradFill>
            <a:gsLst>
              <a:gs pos="0">
                <a:srgbClr val="7B2FF7"/>
              </a:gs>
              <a:gs pos="100000">
                <a:srgbClr val="00D2FF"/>
              </a:gs>
            </a:gsLst>
            <a:lin ang="0" scaled="1"/>
          </a:gradFill>
          <a:ln>
            <a:noFill/>
          </a:ln>
          <a:effectLst>
            <a:outerShdw blurRad="101600" dist="50800" dir="540000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58064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맑은 고딕"/>
              </a:defRPr>
            </a:pPr>
            <a:r>
              <a:t>"GTM은 전략이 아니라 사고방식입니다. 가설을 세우고, 데이터로 검증하고, 논리적으로 도출하세요."</a:t>
            </a:r>
          </a:p>
        </p:txBody>
      </p:sp>
    </p:spTree>
  </p:cSld>
  <p:clrMapOvr>
    <a:masterClrMapping/>
  </p:clrMapOvr>
  <p:transition spd="med">
    <p:fade thruBlk="0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