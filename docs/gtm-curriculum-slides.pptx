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2FF"/>
                </a:solidFill>
                <a:latin typeface="맑은 고딕"/>
              </a:defRPr>
            </a:pPr>
            <a:r>
              <a:t>IT 비즈니스 GTM 전략 실전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0C0"/>
                </a:solidFill>
                <a:latin typeface="맑은 고딕"/>
              </a:defRPr>
            </a:pPr>
            <a:r>
              <a:t>Go-To-Market Strategy for IT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274320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총 15시간  |  5일 과정  |  오프라인 대면 강의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대상: IT 업계 마케터/기획자 지망 취업준비생</a:t>
            </a:r>
          </a:p>
          <a:p>
            <a:pPr>
              <a:spcAft>
                <a:spcPts val="600"/>
              </a:spcAft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수준: 입문 (사전 지식 불요)</a:t>
            </a:r>
          </a:p>
          <a:p>
            <a:pPr>
              <a:spcAft>
                <a:spcPts val="600"/>
              </a:spcAft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AI 도구: Google Gemini (무료 버전)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114800" cy="8229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GTM의 뼈대와 논리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371600"/>
            <a:ext cx="50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2377440"/>
            <a:ext cx="4114800" cy="8229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7"/>
                </a:solidFill>
                <a:latin typeface="맑은 고딕"/>
              </a:defRPr>
            </a:pPr>
            <a:r>
              <a:t>Day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타겟 고객 &amp; 페인포인트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377440"/>
            <a:ext cx="5080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3383280"/>
            <a:ext cx="4114800" cy="8229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474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474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포지셔닝 &amp; 메시지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3383280"/>
            <a:ext cx="50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0" y="4389120"/>
            <a:ext cx="4114800" cy="8229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Day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480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채널 전략 &amp; KPI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4389120"/>
            <a:ext cx="50800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5394960"/>
            <a:ext cx="4114800" cy="8229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5486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585"/>
                </a:solidFill>
                <a:latin typeface="맑은 고딕"/>
              </a:defRPr>
            </a:pPr>
            <a:r>
              <a:t>Day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486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런칭 운영 &amp; 취업 무기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5394960"/>
            <a:ext cx="50800" cy="50800"/>
          </a:xfrm>
          <a:prstGeom prst="rect">
            <a:avLst/>
          </a:prstGeom>
          <a:solidFill>
            <a:srgbClr val="FF3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과정 목표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6400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2FF7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83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IT 프로덕트의 라이프사이클과 GTM 전략의 역할을 설명할 수 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515600" cy="6400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328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2FF7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60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데이터 기반으로 타겟 고객을 정의하고 페인포인트를 도출할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515600" cy="6400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101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2FF7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337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가치 제안(VP)과 포지셔닝을 수립하고, 메시징 프레임워크를 작성할 수 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40"/>
            <a:ext cx="10515600" cy="6400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87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2FF7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14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채널 전략을 설계하고 성과 지표(KPI)를 설정할 수 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10515600" cy="6400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646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2FF7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892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Gemini를 활용하여 GTM 리서치와 분석 업무를 효율화할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32120"/>
            <a:ext cx="10515600" cy="6400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6418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2FF7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6692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위 역량을 이력서/면접에서 어필하는 방법을 알고 적용할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5일 과정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57400" cy="47548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05740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IT 비즈니스의 뼈대와 GTM의 논리 이해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063240"/>
            <a:ext cx="17830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1교시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프로덕트 라이프사이클과 GTM의 역할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2교시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805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실패 vs 성공 GTM: 가설 검증과 데이터 리터러시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120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3교시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949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[라이브 데모] Gemini로 시장 리서치 효율화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1645920"/>
            <a:ext cx="2057400" cy="47548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51760" y="1645920"/>
            <a:ext cx="2057400" cy="54864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7373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Day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3317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타겟 고객 정의와 페인포인트 발굴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3063240"/>
            <a:ext cx="178308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32918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2FF7"/>
                </a:solidFill>
                <a:latin typeface="맑은 고딕"/>
              </a:defRPr>
            </a:pPr>
            <a:r>
              <a:t>1교시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5661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행동 기반 고객 세분화 &amp; 페르소나 설정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206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2FF7"/>
                </a:solidFill>
                <a:latin typeface="맑은 고딕"/>
              </a:defRPr>
            </a:pPr>
            <a:r>
              <a:t>2교시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4805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리뷰/커뮤니티 데이터로 Pain Point 도출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5120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2FF7"/>
                </a:solidFill>
                <a:latin typeface="맑은 고딕"/>
              </a:defRPr>
            </a:pPr>
            <a:r>
              <a:t>3교시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53949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[라이브 데모] AI로 페르소나 &amp; 페인포인트 역추적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1645920"/>
            <a:ext cx="2057400" cy="47548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46320" y="1645920"/>
            <a:ext cx="205740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17373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Day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23317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포지셔닝 및 핵심 메시지 기획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3063240"/>
            <a:ext cx="178308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32918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맑은 고딕"/>
              </a:defRPr>
            </a:pPr>
            <a:r>
              <a:t>1교시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35661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VP Canvas &amp; 포지셔닝 스테이트먼트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206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맑은 고딕"/>
              </a:defRPr>
            </a:pPr>
            <a:r>
              <a:t>2교시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44805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메시징 프레임워크 &amp; 카피라이팅 논리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5120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맑은 고딕"/>
              </a:defRPr>
            </a:pPr>
            <a:r>
              <a:t>3교시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53949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[라이브 데모] AI로 GTM 메시지 &amp; A/B 테스트 설계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1645920"/>
            <a:ext cx="2057400" cy="47548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40880" y="1645920"/>
            <a:ext cx="2057400" cy="5486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17373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Day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23317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GTM 채널 전략과 성과 지표(KPI) 설정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8040" y="3063240"/>
            <a:ext cx="1783080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32918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1교시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35661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Owned/Earned/Paid 채널 믹스 전략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4206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2교시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44805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North Star Metric &amp; AARRR KPI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5120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3교시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53949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[케이스 스터디] 스타트업 GTM 리버스 엔지니어링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1645920"/>
            <a:ext cx="2057400" cy="47548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5440" y="1645920"/>
            <a:ext cx="2057400" cy="548640"/>
          </a:xfrm>
          <a:prstGeom prst="rect">
            <a:avLst/>
          </a:prstGeom>
          <a:solidFill>
            <a:srgbClr val="FF3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17373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Day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72600" y="23317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런칭 이후의 운영 &amp; 취업 무기화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600" y="3063240"/>
            <a:ext cx="1783080" cy="50800"/>
          </a:xfrm>
          <a:prstGeom prst="rect">
            <a:avLst/>
          </a:prstGeom>
          <a:solidFill>
            <a:srgbClr val="FF3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2600" y="32918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3585"/>
                </a:solidFill>
                <a:latin typeface="맑은 고딕"/>
              </a:defRPr>
            </a:pPr>
            <a:r>
              <a:t>1교시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35661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전략적 데이터 트래킹 &amp; So What/Now What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72600" y="4206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3585"/>
                </a:solidFill>
                <a:latin typeface="맑은 고딕"/>
              </a:defRPr>
            </a:pPr>
            <a:r>
              <a:t>2교시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72600" y="44805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AI 활용 업무 자동화(AX) 노하우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72600" y="5120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3585"/>
                </a:solidFill>
                <a:latin typeface="맑은 고딕"/>
              </a:defRPr>
            </a:pPr>
            <a:r>
              <a:t>3교시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2600" y="53949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사수 없는 주니어의 GTM 면접 전략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2FF"/>
                </a:solidFill>
                <a:latin typeface="맑은 고딕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IT 비즈니스의 뼈대와 GTM의 논리 이해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맑은 고딕"/>
              </a:defRPr>
            </a:pPr>
            <a:r>
              <a:t>총 3시간 | 이론 + 라이브 데모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89120"/>
            <a:ext cx="27432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1교시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아이디어가 프로덕트가 되기까지의 라이프사이클과 GTM의 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2교시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실패하는 GTM vs 성공하는 GTM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3교시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[라이브 데모] Gemini를 활용한 시장 리서치 효율화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5943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Day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1교시: 프로덕트 라이프사이클과 GTM의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프로덕트 라이프사이클 4단계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560320" cy="3200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256032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도입기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시장 진입</a:t>
            </a:r>
            <a:br/>
            <a:r>
              <a:t>인지도 구축</a:t>
            </a:r>
            <a:br/>
            <a:r>
              <a:t>초기 사용자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쿠팡이츠</a:t>
            </a:r>
            <a:br/>
            <a:r>
              <a:t>초기 런칭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9260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103120"/>
            <a:ext cx="2560320" cy="3200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40" y="2103120"/>
            <a:ext cx="256032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148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성장기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743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사용자 급증</a:t>
            </a:r>
            <a:br/>
            <a:r>
              <a:t>시장 점유율 확대</a:t>
            </a:r>
            <a:br/>
            <a:r>
              <a:t>수익 모델 안정화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297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사례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572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당근마켓</a:t>
            </a:r>
            <a:br/>
            <a:r>
              <a:t>전국 확장기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9260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103120"/>
            <a:ext cx="2560320" cy="3200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103120"/>
            <a:ext cx="256032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148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성숙기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743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성장 둔화</a:t>
            </a:r>
            <a:br/>
            <a:r>
              <a:t>경쟁 심화</a:t>
            </a:r>
            <a:br/>
            <a:r>
              <a:t>차별화 필요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297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사례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72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배달의민족</a:t>
            </a:r>
            <a:br/>
            <a:r>
              <a:t>현재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9260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2103120"/>
            <a:ext cx="2560320" cy="3200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2103120"/>
            <a:ext cx="256032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2148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쇠퇴기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743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사용자 이탈</a:t>
            </a:r>
            <a:br/>
            <a:r>
              <a:t>대체 서비스 등장</a:t>
            </a:r>
            <a:br/>
            <a:r>
              <a:t>피벗 또는 종료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297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사례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572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싸이월드</a:t>
            </a:r>
            <a:br/>
            <a:r>
              <a:t>(과거)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Day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1교시: GTM 전략이란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GTM = 만든 제품을 어떻게 시장에 내놓고, 고객에게 전달할 것인가에 대한 종합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GTM의 5대 구성 요소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5029200" cy="5943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Who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타겟 고객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누구에게 팔 것인가?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029200" cy="5943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What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가치 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왜 우리 제품을 써야 하는가?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5029200" cy="5943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채널 전략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어디서 고객을 만날 것인가?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5029200" cy="5943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How to Communicate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메시징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어떤 말로 전달할 것인가?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69280"/>
            <a:ext cx="5029200" cy="5943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How to Measure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760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성과 지표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760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성공을 어떻게 측정할 것인가?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011680"/>
            <a:ext cx="5029200" cy="4572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GTM ≠ 마케팅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743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GTM은 마케팅을 포함하는 상위 개념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GTM 전략</a:t>
            </a:r>
          </a:p>
          <a:p>
            <a:pPr>
              <a:spcAft>
                <a:spcPts val="600"/>
              </a:spcAft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  · 타겟 고객 정의</a:t>
            </a:r>
          </a:p>
          <a:p>
            <a:pPr>
              <a:spcAft>
                <a:spcPts val="600"/>
              </a:spcAft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  · 가치 제안 수립</a:t>
            </a:r>
          </a:p>
          <a:p>
            <a:pPr>
              <a:spcAft>
                <a:spcPts val="600"/>
              </a:spcAft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  · 채널 &amp; 메시징 전략</a:t>
            </a:r>
          </a:p>
          <a:p>
            <a:pPr>
              <a:spcAft>
                <a:spcPts val="600"/>
              </a:spcAft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  · 성과 측정 &amp; 개선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7B2FF7"/>
                </a:solidFill>
                <a:latin typeface="맑은 고딕"/>
              </a:defRPr>
            </a:pPr>
            <a:r>
              <a:t>마케팅</a:t>
            </a:r>
          </a:p>
          <a:p>
            <a:pPr>
              <a:spcAft>
                <a:spcPts val="600"/>
              </a:spcAft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  · 광고, 콘텐츠, SNS 운영 등</a:t>
            </a:r>
          </a:p>
          <a:p>
            <a:pPr>
              <a:spcAft>
                <a:spcPts val="600"/>
              </a:spcAft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  · GTM 전략의 실행 도구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Day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2교시: 실패하는 GTM vs 성공하는 GTM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502920"/>
          </a:xfrm>
          <a:prstGeom prst="rect">
            <a:avLst/>
          </a:prstGeom>
          <a:solidFill>
            <a:srgbClr val="FF3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실패하는 GTM의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3585"/>
                </a:solidFill>
                <a:latin typeface="맑은 고딕"/>
              </a:defRPr>
            </a:pPr>
            <a:r>
              <a:t>직관에 의존</a:t>
            </a:r>
          </a:p>
          <a:p>
            <a:pPr>
              <a:spcAft>
                <a:spcPts val="600"/>
              </a:spcAft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"우리 제품은 모든 사람에게 필요해"</a:t>
            </a:r>
          </a:p>
          <a:p>
            <a:pPr>
              <a:spcAft>
                <a:spcPts val="600"/>
              </a:spcAft>
              <a:defRPr sz="1300" b="0">
                <a:solidFill>
                  <a:srgbClr val="808099"/>
                </a:solidFill>
                <a:latin typeface="맑은 고딕"/>
              </a:defRPr>
            </a:pPr>
            <a:r>
              <a:t>→ 타겟 불명확, 메시지 분산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FF3585"/>
                </a:solidFill>
                <a:latin typeface="맑은 고딕"/>
              </a:defRPr>
            </a:pPr>
            <a:r>
              <a:t>고객 관점 부재</a:t>
            </a:r>
          </a:p>
          <a:p>
            <a:pPr>
              <a:spcAft>
                <a:spcPts val="600"/>
              </a:spcAft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"이 기능이 좋으니까 당연히 잘 될 거야"</a:t>
            </a:r>
          </a:p>
          <a:p>
            <a:pPr>
              <a:spcAft>
                <a:spcPts val="600"/>
              </a:spcAft>
              <a:defRPr sz="1300" b="0">
                <a:solidFill>
                  <a:srgbClr val="808099"/>
                </a:solidFill>
                <a:latin typeface="맑은 고딕"/>
              </a:defRPr>
            </a:pPr>
            <a:r>
              <a:t>→ 기능 자랑 ≠ 고객 가치 전달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FF3585"/>
                </a:solidFill>
                <a:latin typeface="맑은 고딕"/>
              </a:defRPr>
            </a:pPr>
            <a:r>
              <a:t>채널 미스매치</a:t>
            </a:r>
          </a:p>
          <a:p>
            <a:pPr>
              <a:spcAft>
                <a:spcPts val="600"/>
              </a:spcAft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B2B 제품인데 인스타그램 올인</a:t>
            </a:r>
          </a:p>
          <a:p>
            <a:pPr>
              <a:spcAft>
                <a:spcPts val="600"/>
              </a:spcAft>
              <a:defRPr sz="1300" b="0">
                <a:solidFill>
                  <a:srgbClr val="808099"/>
                </a:solidFill>
                <a:latin typeface="맑은 고딕"/>
              </a:defRPr>
            </a:pPr>
            <a:r>
              <a:t>→ 고객이 없는 곳에서 마케팅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5303520" cy="5029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성공하는 GTM의 원리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가설 검증 사이클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가설 수립</a:t>
            </a:r>
          </a:p>
          <a:p>
            <a:pPr>
              <a:spcAft>
                <a:spcPts val="600"/>
              </a:spcAft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"우리 타겟은 20대 직장인이고, 핵심 페인포인트는 ○○이다"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데이터 수집 &amp; 분석</a:t>
            </a:r>
          </a:p>
          <a:p>
            <a:pPr>
              <a:spcAft>
                <a:spcPts val="600"/>
              </a:spcAft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측정 가능한 형태로 검증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검증/반증 &amp; 개선</a:t>
            </a:r>
          </a:p>
          <a:p>
            <a:pPr>
              <a:spcAft>
                <a:spcPts val="600"/>
              </a:spcAft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"이 지표가 N% 이상이면 유효하다"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→ 반복 (Iterate)</a:t>
            </a:r>
          </a:p>
          <a:p>
            <a:pPr>
              <a:spcAft>
                <a:spcPts val="600"/>
              </a:spcAft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직관이 아닌 데이터로 의사결정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Day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2교시: 데이터 리터러시의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데이터 리터러시 = 데이터를 읽고, 해석하고, 의사결정에 활용하는 능력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취준생에게 필요한 데이터 리터러시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F3585"/>
                </a:solidFill>
                <a:latin typeface="맑은 고딕"/>
              </a:defRPr>
            </a:pPr>
            <a:r>
              <a:t>코딩이나 통계 전문 지식이 아닙니다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"이 숫자가 의미하는 바를 해석하고,</a:t>
            </a:r>
            <a:br/>
            <a:r>
              <a:t>다음 액션을 제안하는 것"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기본 지표 읽기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0515600" cy="457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DAU/MAU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일간/월간 활성 사용자 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→ 서비스의 전반적 활성도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515600" cy="457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전환율(CVR)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특정 행동을 완료한 비율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074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→ 퍼널의 효율성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77840"/>
            <a:ext cx="10515600" cy="457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이탈률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23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이탈한 사용자의 비율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623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→ 문제 지점 파악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126480"/>
            <a:ext cx="10515600" cy="457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172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리텐션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6172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재방문/재사용 비율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6172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→ 서비스의 지속적 가치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188720"/>
            <a:ext cx="5029200" cy="25603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핵심 사고방식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3585"/>
                </a:solidFill>
                <a:latin typeface="맑은 고딕"/>
              </a:defRPr>
            </a:pPr>
            <a:r>
              <a:t>직관 기반</a:t>
            </a:r>
          </a:p>
          <a:p>
            <a:pPr>
              <a:spcAft>
                <a:spcPts val="600"/>
              </a:spcAft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"느낌이 좋다"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데이터 기반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"이 지표가 N% 이상이면 유효하다"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Day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3교시 [라이브 데모]: Gemini로 시장 리서치 효율화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논리적 프롬프트 구조화의 3원칙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383280" cy="11887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33832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1. 역할(Role) 부여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"너는 IT 서비스 시장 분석 전문가야"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383280" cy="11887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38328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7"/>
                </a:solidFill>
                <a:latin typeface="맑은 고딕"/>
              </a:defRPr>
            </a:pPr>
            <a:r>
              <a:t>2. 맥락(Context) 제공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구체적인 상황, 산업, 범위 명시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383280" cy="11887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20240"/>
            <a:ext cx="338328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3. 출력 형식(Format) 지정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표, 리스트, 단계별 등 원하는 형태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83280"/>
            <a:ext cx="5303520" cy="301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383280"/>
            <a:ext cx="5303520" cy="411480"/>
          </a:xfrm>
          <a:prstGeom prst="rect">
            <a:avLst/>
          </a:prstGeom>
          <a:solidFill>
            <a:srgbClr val="FF3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01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Bad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3585"/>
                </a:solidFill>
                <a:latin typeface="맑은 고딕"/>
              </a:defRPr>
            </a:pPr>
            <a:r>
              <a:t>"배달 앱 시장에 대해 알려줘"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808099"/>
                </a:solidFill>
                <a:latin typeface="맑은 고딕"/>
              </a:defRPr>
            </a:pPr>
            <a:r>
              <a:t>문제점:</a:t>
            </a:r>
          </a:p>
          <a:p>
            <a:pPr>
              <a:spcAft>
                <a:spcPts val="600"/>
              </a:spcAft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· 역할 없음</a:t>
            </a:r>
          </a:p>
          <a:p>
            <a:pPr>
              <a:spcAft>
                <a:spcPts val="600"/>
              </a:spcAft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· 범위 불명확</a:t>
            </a:r>
          </a:p>
          <a:p>
            <a:pPr>
              <a:spcAft>
                <a:spcPts val="600"/>
              </a:spcAft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· 출력 형식 미지정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383280"/>
            <a:ext cx="5303520" cy="301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383280"/>
            <a:ext cx="5303520" cy="41148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401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Good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9319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E696"/>
                </a:solidFill>
                <a:latin typeface="맑은 고딕"/>
              </a:defRPr>
            </a:pPr>
            <a:r>
              <a:t>"너는 한국 O2O 서비스 시장 분석가야.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2024-2025년 한국 음식 배달 앱 시장의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주요 트렌드 5가지를 표 형식으로 정리해줘.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각 트렌드별로 ①트렌드명 ②설명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③대표 서비스 ④시사점을 포함해줘."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7B2FF7"/>
                </a:solidFill>
                <a:latin typeface="맑은 고딕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타겟 고객 정의와 페인포인트 발굴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맑은 고딕"/>
              </a:defRPr>
            </a:pPr>
            <a:r>
              <a:t>총 3시간 | 이론 + 라이브 데모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89120"/>
            <a:ext cx="274320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7"/>
                </a:solidFill>
                <a:latin typeface="맑은 고딕"/>
              </a:defRPr>
            </a:pPr>
            <a:r>
              <a:t>1교시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전략적 고객 세분화 및 뾰족한 페르소나 설정 로직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7"/>
                </a:solidFill>
                <a:latin typeface="맑은 고딕"/>
              </a:defRPr>
            </a:pPr>
            <a:r>
              <a:t>2교시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시장 내 흩어진 데이터로 Pain Point 도출하기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7"/>
                </a:solidFill>
                <a:latin typeface="맑은 고딕"/>
              </a:defRPr>
            </a:pPr>
            <a:r>
              <a:t>3교시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[라이브 데모] AI로 페르소나와 페인포인트 역추적 케이스 스터디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5943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7"/>
                </a:solidFill>
                <a:latin typeface="맑은 고딕"/>
              </a:defRPr>
            </a:pPr>
            <a:r>
              <a:t>Day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1교시: 고객 세분화(Segmentation)의 4가지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606040" cy="3200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B2FF7"/>
                </a:solidFill>
                <a:latin typeface="맑은 고딕"/>
              </a:defRPr>
            </a:pPr>
            <a:r>
              <a:t>인구통계적</a:t>
            </a:r>
            <a:br/>
            <a:r>
              <a:t>Demographic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224028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나이, 성별, 소득, 직업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가장 기본적인 분류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88720"/>
            <a:ext cx="2606040" cy="3200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3716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B2FF7"/>
                </a:solidFill>
                <a:latin typeface="맑은 고딕"/>
              </a:defRPr>
            </a:pPr>
            <a:r>
              <a:t>지리적</a:t>
            </a:r>
            <a:br/>
            <a:r>
              <a:t>Geographic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194560"/>
            <a:ext cx="224028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지역, 도시 규모, 기후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00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위치 기반 서비스에 유용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188720"/>
            <a:ext cx="2606040" cy="3200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716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B2FF7"/>
                </a:solidFill>
                <a:latin typeface="맑은 고딕"/>
              </a:defRPr>
            </a:pPr>
            <a:r>
              <a:t>심리적</a:t>
            </a:r>
            <a:br/>
            <a:r>
              <a:t>Psychographic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194560"/>
            <a:ext cx="224028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3774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가치관, 라이프스타일, 관심사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00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고객의 동기를 이해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188720"/>
            <a:ext cx="2606040" cy="3200400"/>
          </a:xfrm>
          <a:prstGeom prst="roundRect">
            <a:avLst/>
          </a:prstGeom>
          <a:solidFill>
            <a:srgbClr val="2A1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3716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행동적</a:t>
            </a:r>
            <a:br/>
            <a:r>
              <a:t>Behavioral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194560"/>
            <a:ext cx="2240280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3774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사용 빈도, 구매 패턴, 충성도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200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GTM에서 가장 중요!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54880"/>
            <a:ext cx="5303520" cy="16459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2FF7"/>
                </a:solidFill>
                <a:latin typeface="맑은 고딕"/>
              </a:defRPr>
            </a:pPr>
            <a:r>
              <a:t>토스의 세분화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F3585"/>
                </a:solidFill>
                <a:latin typeface="맑은 고딕"/>
              </a:defRPr>
            </a:pPr>
            <a:r>
              <a:t>✕  "20대" (인구통계)</a:t>
            </a:r>
          </a:p>
          <a:p>
            <a:pPr>
              <a:spcAft>
                <a:spcPts val="600"/>
              </a:spcAft>
              <a:defRPr sz="1300" b="0">
                <a:solidFill>
                  <a:srgbClr val="00E696"/>
                </a:solidFill>
                <a:latin typeface="맑은 고딕"/>
              </a:defRPr>
            </a:pPr>
            <a:r>
              <a:t>✓  "금융 서비스에 불편을 느끼는 디지털 네이티브" (행동+심리)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754880"/>
            <a:ext cx="5303520" cy="16459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2FF7"/>
                </a:solidFill>
                <a:latin typeface="맑은 고딕"/>
              </a:defRPr>
            </a:pPr>
            <a:r>
              <a:t>당근마켓의 세분화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2120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F3585"/>
                </a:solidFill>
                <a:latin typeface="맑은 고딕"/>
              </a:defRPr>
            </a:pPr>
            <a:r>
              <a:t>✕  "서울 거주자" (지리적)</a:t>
            </a:r>
          </a:p>
          <a:p>
            <a:pPr>
              <a:spcAft>
                <a:spcPts val="600"/>
              </a:spcAft>
              <a:defRPr sz="1300" b="0">
                <a:solidFill>
                  <a:srgbClr val="00E696"/>
                </a:solidFill>
                <a:latin typeface="맑은 고딕"/>
              </a:defRPr>
            </a:pPr>
            <a:r>
              <a:t>✓  "동네 기반 신뢰 거래를 원하는 사람" (행동+심리)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7"/>
                </a:solidFill>
                <a:latin typeface="맑은 고딕"/>
              </a:defRPr>
            </a:pPr>
            <a:r>
              <a:t>Day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1교시: 뾰족한 페르소나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7"/>
                </a:solidFill>
                <a:latin typeface="맑은 고딕"/>
              </a:defRPr>
            </a:pPr>
            <a:r>
              <a:t>페르소나 ≠ 타겟 오디언스. 페르소나는 타겟의 "대표 인물"을 구체적으로 그린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뾰족한 페르소나의 5요소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7"/>
                </a:solidFill>
                <a:latin typeface="맑은 고딕"/>
              </a:defRPr>
            </a:pPr>
            <a:r>
              <a:t>1. 기본 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이름, 나이, 직업 등 (구체적으로)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7"/>
                </a:solidFill>
                <a:latin typeface="맑은 고딕"/>
              </a:defRPr>
            </a:pPr>
            <a:r>
              <a:t>2. 핵심 목표 (Goal)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이 사람이 달성하고 싶은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7"/>
                </a:solidFill>
                <a:latin typeface="맑은 고딕"/>
              </a:defRPr>
            </a:pPr>
            <a:r>
              <a:t>3. 핵심 불만 (Pain Point)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목표 달성을 방해하는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7"/>
                </a:solidFill>
                <a:latin typeface="맑은 고딕"/>
              </a:defRPr>
            </a:pPr>
            <a:r>
              <a:t>4. 현재 해결 방식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지금 이 문제를 어떻게 해결하는가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7"/>
                </a:solidFill>
                <a:latin typeface="맑은 고딕"/>
              </a:defRPr>
            </a:pPr>
            <a:r>
              <a:t>5. 정보 접근 채널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어디서 정보를 얻는가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7"/>
                </a:solidFill>
                <a:latin typeface="맑은 고딕"/>
              </a:defRPr>
            </a:pPr>
            <a:r>
              <a:t>페르소나 예시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011680"/>
            <a:ext cx="182880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2860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김지현 (28세)</a:t>
            </a:r>
          </a:p>
          <a:p>
            <a:pPr>
              <a:spcAft>
                <a:spcPts val="600"/>
              </a:spcAft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스타트업 마케터 2년차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핵심 목표</a:t>
            </a:r>
          </a:p>
          <a:p>
            <a:pPr>
              <a:spcAft>
                <a:spcPts val="600"/>
              </a:spcAft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한정된 예산으로 효과적인 마케팅 캠페인 성과를 내고 싶다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FF3585"/>
                </a:solidFill>
                <a:latin typeface="맑은 고딕"/>
              </a:defRPr>
            </a:pPr>
            <a:r>
              <a:t>핵심 불만</a:t>
            </a:r>
          </a:p>
          <a:p>
            <a:pPr>
              <a:spcAft>
                <a:spcPts val="600"/>
              </a:spcAft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데이터 분석 역량이 부족해서 감으로 의사결정하게 된다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FF6B35"/>
                </a:solidFill>
                <a:latin typeface="맑은 고딕"/>
              </a:defRPr>
            </a:pPr>
            <a:r>
              <a:t>현재 해결 방식</a:t>
            </a:r>
          </a:p>
          <a:p>
            <a:pPr>
              <a:spcAft>
                <a:spcPts val="600"/>
              </a:spcAft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블로그 글, 유튜브 영상으로 독학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정보 접근 채널</a:t>
            </a:r>
          </a:p>
          <a:p>
            <a:pPr>
              <a:spcAft>
                <a:spcPts val="600"/>
              </a:spcAft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인스타그램, 마케팅 오픈채팅방, 브런치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7"/>
                </a:solidFill>
                <a:latin typeface="맑은 고딕"/>
              </a:defRPr>
            </a:pPr>
            <a:r>
              <a:t>Day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2교시: Pain Point 분류와 추출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Pain Point 3유형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82880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383280" cy="2286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33832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기능적</a:t>
            </a:r>
            <a:br/>
            <a:r>
              <a:t>Functional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"앱이 느려요"</a:t>
            </a:r>
            <a:br/>
            <a:r>
              <a:t>"결제가 안 돼요"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직접적 불편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20240"/>
            <a:ext cx="3383280" cy="2286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38328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7"/>
                </a:solidFill>
                <a:latin typeface="맑은 고딕"/>
              </a:defRPr>
            </a:pPr>
            <a:r>
              <a:t>감정적</a:t>
            </a:r>
            <a:br/>
            <a:r>
              <a:t>Emotional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"불안해요"</a:t>
            </a:r>
            <a:br/>
            <a:r>
              <a:t>"신뢰가 안 가요"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심리적 장벽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20240"/>
            <a:ext cx="3383280" cy="2286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920240"/>
            <a:ext cx="338328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사회적</a:t>
            </a:r>
            <a:br/>
            <a:r>
              <a:t>Social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"혼자만 쓰는 느낌"</a:t>
            </a:r>
            <a:br/>
            <a:r>
              <a:t>"주변에 아는 사람 없어요"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맑은 고딕"/>
              </a:defRPr>
            </a:pPr>
            <a:r>
              <a:t>관계/소속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72000"/>
            <a:ext cx="10972800" cy="18288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실전 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206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· 별점 3점 리뷰가 가장 건설적인 피드백이 많다 (1-2점은 극단적 의견에 치우침)</a:t>
            </a:r>
          </a:p>
          <a:p>
            <a:pPr>
              <a:spcAft>
                <a:spcPts val="600"/>
              </a:spcAft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· 긴 리뷰일수록 강한 감정 — 핵심 Pain Point 단서가 됨</a:t>
            </a:r>
          </a:p>
          <a:p>
            <a:pPr>
              <a:spcAft>
                <a:spcPts val="600"/>
              </a:spcAft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· 검색 키워드: "[서비스명] 불편", "[서비스명] 대안", "[서비스명] 탈퇴"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1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6B35"/>
                </a:solidFill>
                <a:latin typeface="맑은 고딕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포지셔닝 및 핵심 메시지 기획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맑은 고딕"/>
              </a:defRPr>
            </a:pPr>
            <a:r>
              <a:t>총 3시간 | 이론 + 라이브 데모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89120"/>
            <a:ext cx="2743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1교시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핵심 가치 제안(Value Proposition) 도출과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2교시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메시징 프레임워크와 카피라이팅 논리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3교시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[라이브 데모] AI로 GTM 메시지 &amp; A/B 테스트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5943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Day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1교시: 가치 제안(Value Proposition)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맑은 고딕"/>
              </a:defRPr>
            </a:pPr>
            <a:r>
              <a:t>가치 제안 = 고객이 우리 서비스를 선택해야 하는 단 하나의 이유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029200" cy="2743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0292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고객 프로필 (Day 2에서 도출)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Jobs: 해결하고 싶은 일</a:t>
            </a:r>
          </a:p>
          <a:p>
            <a:pPr>
              <a:spcAft>
                <a:spcPts val="600"/>
              </a:spcAft>
              <a:defRPr sz="1500" b="1">
                <a:solidFill>
                  <a:srgbClr val="FF3585"/>
                </a:solidFill>
                <a:latin typeface="맑은 고딕"/>
              </a:defRPr>
            </a:pPr>
            <a:r>
              <a:t>Pains: Pain Point</a:t>
            </a:r>
          </a:p>
          <a:p>
            <a:pPr>
              <a:spcAft>
                <a:spcPts val="600"/>
              </a:spcAft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Gains: 기대하는 이득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  <a:latin typeface="맑은 고딕"/>
              </a:defRPr>
            </a:pPr>
            <a:r>
              <a:t>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029200" cy="2743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가치 맵 (오늘 채울 것)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68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제품/서비스</a:t>
            </a:r>
          </a:p>
          <a:p>
            <a:pPr>
              <a:spcAft>
                <a:spcPts val="600"/>
              </a:spcAft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Pain Reliever: 고통 해소</a:t>
            </a:r>
          </a:p>
          <a:p>
            <a:pPr>
              <a:spcAft>
                <a:spcPts val="600"/>
              </a:spcAft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Gain Creator: 이득 제공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사례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03520"/>
            <a:ext cx="5303520" cy="10972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토스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394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Pain: 복잡한 금융</a:t>
            </a:r>
            <a:br/>
            <a:r>
              <a:t>→ Reliever: 원탭 송금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303520"/>
            <a:ext cx="5303520" cy="10972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당근마켓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394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Pain: 사기 불안</a:t>
            </a:r>
            <a:br/>
            <a:r>
              <a:t>→ Reliever: 동네 인증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Day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1교시: 포지셔닝 스테이트먼트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맑은 고딕"/>
              </a:defRPr>
            </a:pPr>
            <a:r>
              <a:t>포지셔닝 = 고객의 머릿속에 우리 서비스가 차지하는 위치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0972800" cy="2743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포지셔닝 스테이트먼트 공식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828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[타겟 고객]에게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[서비스명]은</a:t>
            </a:r>
          </a:p>
          <a:p>
            <a:pPr>
              <a:spcAft>
                <a:spcPts val="800"/>
              </a:spcAft>
              <a:defRPr sz="2000" b="1">
                <a:solidFill>
                  <a:srgbClr val="7B2FF7"/>
                </a:solidFill>
                <a:latin typeface="맑은 고딕"/>
              </a:defRPr>
            </a:pPr>
            <a:r>
              <a:t>[경쟁 카테고리] 중에서</a:t>
            </a:r>
          </a:p>
          <a:p>
            <a:pPr>
              <a:spcAft>
                <a:spcPts val="800"/>
              </a:spcAft>
              <a:defRPr sz="2000" b="1">
                <a:solidFill>
                  <a:srgbClr val="FF6B35"/>
                </a:solidFill>
                <a:latin typeface="맑은 고딕"/>
              </a:defRPr>
            </a:pPr>
            <a:r>
              <a:t>[핵심 차별점]을 제공하는 서비스이다.</a:t>
            </a:r>
          </a:p>
          <a:p>
            <a:pPr>
              <a:spcAft>
                <a:spcPts val="800"/>
              </a:spcAft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왜냐하면 [근거/증거]이기 때문이다.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10972800" cy="16459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예시: 배달의민족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바쁜 직장인에게 / 배달의민족은 / 음식 주문 서비스 중에서</a:t>
            </a:r>
          </a:p>
          <a:p>
            <a:pPr>
              <a:spcAft>
                <a:spcPts val="600"/>
              </a:spcAft>
              <a:defRPr sz="1400" b="0">
                <a:solidFill>
                  <a:srgbClr val="FF6B35"/>
                </a:solidFill>
                <a:latin typeface="맑은 고딕"/>
              </a:defRPr>
            </a:pPr>
            <a:r>
              <a:t>가장 다양한 선택지와 재미있는 경험을 제공하는 서비스이다</a:t>
            </a:r>
          </a:p>
          <a:p>
            <a:pPr>
              <a:spcAft>
                <a:spcPts val="600"/>
              </a:spcAft>
              <a:defRPr sz="1400" b="0">
                <a:solidFill>
                  <a:srgbClr val="00E696"/>
                </a:solidFill>
                <a:latin typeface="맑은 고딕"/>
              </a:defRPr>
            </a:pPr>
            <a:r>
              <a:t>왜냐하면 업계 최다 입점 식당과 B급 감성 브랜딩을 갖추고 있기 때문이다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Day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2교시: 메시징 프레임워크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맑은 고딕"/>
              </a:defRPr>
            </a:pPr>
            <a:r>
              <a:t>같은 서비스도 타겟에 따라 강조하는 가치가 다르다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메시지 계층 구조 (토스 예시)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10972800" cy="640080"/>
          </a:xfrm>
          <a:prstGeom prst="roundRect">
            <a:avLst/>
          </a:prstGeom>
          <a:solidFill>
            <a:srgbClr val="3A2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2FF7"/>
                </a:solidFill>
                <a:latin typeface="맑은 고딕"/>
              </a:defRPr>
            </a:pPr>
            <a:r>
              <a:t>브랜드 메시지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"금융을 쉽게"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058400" cy="914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타겟: 20대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가치 메시지: "첫 월급부터 똑똑한 자산관리"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증거 메시지: "가입 3분 만에 소비 패턴 분석"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97680"/>
            <a:ext cx="10058400" cy="914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타겟: 30대 부모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17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가치 메시지: "아이 용돈도 간편하게"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증거 메시지: "토스 용돈 기능 월 이용자 100만명"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394960"/>
            <a:ext cx="10058400" cy="914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440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타겟: 소상공인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715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가치 메시지: "매출 정산을 한눈에"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증거 메시지: "토스 비즈니스 가입 소상공인 50만"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Day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2교시: 카피라이팅 4원칙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0972800" cy="11887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1. 기능이 아닌 혜택을 말하라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3585"/>
                </a:solidFill>
                <a:latin typeface="맑은 고딕"/>
              </a:defRPr>
            </a:pPr>
            <a:r>
              <a:t>✕ "256GB 저장 공간"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맑은 고딕"/>
              </a:defRPr>
            </a:pPr>
            <a:r>
              <a:t>✓ "사진 10만 장을 걱정 없이 저장하세요"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10972800" cy="11887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2. 고객의 언어를 써라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3585"/>
                </a:solidFill>
                <a:latin typeface="맑은 고딕"/>
              </a:defRPr>
            </a:pPr>
            <a:r>
              <a:t>✕ "옴니채널 통합 CRM 솔루션"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맑은 고딕"/>
              </a:defRPr>
            </a:pPr>
            <a:r>
              <a:t>✓ "고객 문의, 한 곳에서 다 관리하세요"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0972800" cy="11887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3. 구체적인 숫자를 활용하라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3585"/>
                </a:solidFill>
                <a:latin typeface="맑은 고딕"/>
              </a:defRPr>
            </a:pPr>
            <a:r>
              <a:t>✕ "빠른 배달"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맑은 고딕"/>
              </a:defRPr>
            </a:pPr>
            <a:r>
              <a:t>✓ "주문 후 평균 28분 도착"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10972800" cy="11887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4. 행동을 유도하라 (CTA)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3585"/>
                </a:solidFill>
                <a:latin typeface="맑은 고딕"/>
              </a:defRPr>
            </a:pPr>
            <a:r>
              <a:t>✕ "많은 사랑 부탁드립니다"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669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맑은 고딕"/>
              </a:defRPr>
            </a:pPr>
            <a:r>
              <a:t>✓ "지금 시작하기" / "무료로 체험하기"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E696"/>
                </a:solidFill>
                <a:latin typeface="맑은 고딕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GTM 채널 전략과 성과 지표(KPI)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맑은 고딕"/>
              </a:defRPr>
            </a:pPr>
            <a:r>
              <a:t>총 3시간 | 이론 + 케이스 스터디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89120"/>
            <a:ext cx="2743200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1교시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초기 리소스 한계를 극복하는 채널 믹스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2교시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GTM 성공을 판단하는 성과 측정 지표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3교시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[미니 케이스 스터디] 스타트업 초기 GTM 리버스 엔지니어링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5943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Day 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1교시: 미디어의 3가지 유형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4747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474720" cy="6400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Owned</a:t>
            </a:r>
            <a:br/>
            <a:r>
              <a:t>자사 미디어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우리가 소유한 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310896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예시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블로그, 앱, 뉴스레터</a:t>
            </a:r>
            <a:br/>
            <a:r>
              <a:t>SNS 계정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장점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통제 가능, 비용 낮음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585"/>
                </a:solidFill>
                <a:latin typeface="맑은 고딕"/>
              </a:defRPr>
            </a:pPr>
            <a:r>
              <a:t>단점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도달 범위 한정적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39" y="1188720"/>
            <a:ext cx="34747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39" y="1188720"/>
            <a:ext cx="3474720" cy="64008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39" y="1234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Earned</a:t>
            </a:r>
            <a:br/>
            <a:r>
              <a:t>획득 미디어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제3자 자발적 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19" y="2377440"/>
            <a:ext cx="3108960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19" y="2560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예시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19" y="2834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언론 보도, 리뷰</a:t>
            </a:r>
            <a:br/>
            <a:r>
              <a:t>입소문, 바이럴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19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장점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19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신뢰도 높음, 비용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19" y="4572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585"/>
                </a:solidFill>
                <a:latin typeface="맑은 고딕"/>
              </a:defRPr>
            </a:pPr>
            <a:r>
              <a:t>단점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19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통제 불가, 예측 어려움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8" y="1188720"/>
            <a:ext cx="34747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8" y="1188720"/>
            <a:ext cx="3474720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8" y="1234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Paid</a:t>
            </a:r>
            <a:br/>
            <a:r>
              <a:t>유료 미디어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8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비용을 지불한 광고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58" y="2377440"/>
            <a:ext cx="310896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58" y="2560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맑은 고딕"/>
              </a:defRPr>
            </a:pPr>
            <a:r>
              <a:t>예시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58" y="2834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검색 광고, SNS 광고</a:t>
            </a:r>
            <a:br/>
            <a:r>
              <a:t>인플루언서 협업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8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장점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58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즉각적 도달, 타겟팅 가능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58" y="4572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585"/>
                </a:solidFill>
                <a:latin typeface="맑은 고딕"/>
              </a:defRPr>
            </a:pPr>
            <a:r>
              <a:t>단점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58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비용 높음, 중단 시 소멸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Day 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1교시: 초기 스타트업 채널 전략 3원칙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0972800" cy="15544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96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한 채널에서 먼저 이기고 확장하라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모든 채널에 분산하면 어디서도 임팩트를 내지 못함.</a:t>
            </a:r>
            <a:br/>
            <a:r>
              <a:t>타겟이 가장 많이 모인 핵심 채널 1-2개에 집중.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10972800" cy="15544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96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고객이 있는 곳을 따라가라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11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"우리가 잘하는 것"이 아니라 "고객이 있는 곳"이 기준.</a:t>
            </a:r>
            <a:br/>
            <a:r>
              <a:t>페르소나의 정보 접근 채널(Day 2)이 출발점.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10972800" cy="15544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96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초기에는 스케일보다 학습이 목적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49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초기 채널 운영의 목적은 대량 트래픽이 아니라</a:t>
            </a:r>
            <a:br/>
            <a:r>
              <a:t>"우리 메시지가 타겟에게 통하는가?" 검증.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Day 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2교시: North Star Metric &amp; AARRR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North Star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맑은 고딕"/>
              </a:defRPr>
            </a:pPr>
            <a:r>
              <a:t>서비스의 성공을 가장 잘 대변하는 단 하나의 지표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2606040" cy="914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당근마켓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월간 거래 완료 건수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286000"/>
            <a:ext cx="2606040" cy="914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토스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51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월간 활성 사용자(MAU)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286000"/>
            <a:ext cx="2606040" cy="914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3317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배달의민족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월간 주문 건수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286000"/>
            <a:ext cx="2606040" cy="9144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3317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뤼튼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51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일간 대화 생성 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AARRR 퍼널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114800"/>
            <a:ext cx="2103120" cy="2286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114800"/>
            <a:ext cx="21031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Acquisition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572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획득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937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웹사이트 방문, 앱 다운로드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572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08099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114800"/>
            <a:ext cx="2103120" cy="2286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0" y="4114800"/>
            <a:ext cx="210312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B2FF7"/>
                </a:solidFill>
                <a:latin typeface="맑은 고딕"/>
              </a:defRPr>
            </a:pPr>
            <a:r>
              <a:t>Activation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572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활성화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937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회원가입 완료, 첫 거래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572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08099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0" y="4114800"/>
            <a:ext cx="2103120" cy="2286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2103120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Retention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572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유지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4937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DAU/MAU, 7일 리텐션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572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08099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4114800"/>
            <a:ext cx="2103120" cy="2286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0" y="4114800"/>
            <a:ext cx="210312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Revenue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572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수익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937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ARPU, 결제 전환율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572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08099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18320" y="4114800"/>
            <a:ext cx="2103120" cy="2286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18320" y="4114800"/>
            <a:ext cx="2103120" cy="50800"/>
          </a:xfrm>
          <a:prstGeom prst="rect">
            <a:avLst/>
          </a:prstGeom>
          <a:solidFill>
            <a:srgbClr val="FF3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3585"/>
                </a:solidFill>
                <a:latin typeface="맑은 고딕"/>
              </a:defRPr>
            </a:pPr>
            <a:r>
              <a:t>Referral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4572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추천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4937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추천 코드 사용률, NPS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3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3585"/>
                </a:solidFill>
                <a:latin typeface="맑은 고딕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런칭 이후의 운영 팁과 "취업 무기"로 만드는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맑은 고딕"/>
              </a:defRPr>
            </a:pPr>
            <a:r>
              <a:t>총 3시간 | 강사 노하우 + 취업 전략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89120"/>
            <a:ext cx="2743200" cy="50800"/>
          </a:xfrm>
          <a:prstGeom prst="rect">
            <a:avLst/>
          </a:prstGeom>
          <a:solidFill>
            <a:srgbClr val="FF3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585"/>
                </a:solidFill>
                <a:latin typeface="맑은 고딕"/>
              </a:defRPr>
            </a:pPr>
            <a:r>
              <a:t>1교시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GTM 런칭은 끝이 아닌 시작 — 전략적 데이터 트래킹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585"/>
                </a:solidFill>
                <a:latin typeface="맑은 고딕"/>
              </a:defRPr>
            </a:pPr>
            <a:r>
              <a:t>2교시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AI와 데이터로 업무 임팩트 극대화하기 (AX 노하우)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585"/>
                </a:solidFill>
                <a:latin typeface="맑은 고딕"/>
              </a:defRPr>
            </a:pPr>
            <a:r>
              <a:t>3교시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맑은 고딕"/>
              </a:defRPr>
            </a:pPr>
            <a:r>
              <a:t>사수 없는 주니어의 GTM 면접/취업 전략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5943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08099"/>
                </a:solidFill>
                <a:latin typeface="맑은 고딕"/>
              </a:defRPr>
            </a:pPr>
            <a:r>
              <a:t>50분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3585"/>
                </a:solidFill>
                <a:latin typeface="맑은 고딕"/>
              </a:defRPr>
            </a:pPr>
            <a:r>
              <a:t>Day 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FF3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1교시: 데이터 기반 의사결정 — So What? → Now What?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0972800" cy="10972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3585"/>
                </a:solidFill>
                <a:latin typeface="맑은 고딕"/>
              </a:defRPr>
            </a:pPr>
            <a:r>
              <a:t>So What?  이 데이터가 의미하는 바는?</a:t>
            </a:r>
          </a:p>
          <a:p>
            <a:pPr>
              <a:spcAft>
                <a:spcPts val="600"/>
              </a:spcAft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Now What?  그래서 우리가 해야 할 액션은?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사례 시나리오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5029200" cy="10972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상황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랜딩페이지 방문자 1,000명 중</a:t>
            </a:r>
            <a:br/>
            <a:r>
              <a:t>회원가입 30명 (전환율 3%)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5029200" cy="10972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3585"/>
                </a:solidFill>
                <a:latin typeface="맑은 고딕"/>
              </a:defRPr>
            </a:pPr>
            <a:r>
              <a:t>So What?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업계 평균(5-10%)보다 낮음</a:t>
            </a:r>
            <a:br/>
            <a:r>
              <a:t>유입은 되지만 가입 전 이탈 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017520"/>
            <a:ext cx="5029200" cy="237744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Now What? (가능한 액션)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4747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1. 랜딩페이지 카피가 타겟과 미스매치?</a:t>
            </a:r>
          </a:p>
          <a:p>
            <a:pPr>
              <a:spcAft>
                <a:spcPts val="600"/>
              </a:spcAft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   → A/B 테스트로 카피 변경 검증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2. 가입 과정이 복잡?</a:t>
            </a:r>
          </a:p>
          <a:p>
            <a:pPr>
              <a:spcAft>
                <a:spcPts val="600"/>
              </a:spcAft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   → 가입 단계 축소 검토</a:t>
            </a:r>
          </a:p>
          <a:p>
            <a:pPr>
              <a:spcAft>
                <a:spcPts val="600"/>
              </a:spcAft>
              <a:defRPr sz="1600">
                <a:solidFill>
                  <a:srgbClr val="B0B0C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3. 가치 제안이 불명확?</a:t>
            </a:r>
          </a:p>
          <a:p>
            <a:pPr>
              <a:spcAft>
                <a:spcPts val="600"/>
              </a:spcAft>
              <a:defRPr sz="1200" b="0">
                <a:solidFill>
                  <a:srgbClr val="B0B0C0"/>
                </a:solidFill>
                <a:latin typeface="맑은 고딕"/>
              </a:defRPr>
            </a:pPr>
            <a:r>
              <a:t>   → 히어로 섹션 메시지 변경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77840"/>
            <a:ext cx="10972800" cy="10972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맑은 고딕"/>
              </a:defRPr>
            </a:pPr>
            <a:r>
              <a:t>ICE 스코어링으로 우선순위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Impact (영향력, 1-10)  +  Confidence (확신도, 1-10)  +  Ease (실행 용이성, 1-10)  ÷ 3  =  ICE 점수</a:t>
            </a:r>
          </a:p>
          <a:p>
            <a:pPr>
              <a:spcAft>
                <a:spcPts val="600"/>
              </a:spcAft>
              <a:defRPr sz="1300" b="0">
                <a:solidFill>
                  <a:srgbClr val="00E696"/>
                </a:solidFill>
                <a:latin typeface="맑은 고딕"/>
              </a:defRPr>
            </a:pPr>
            <a:r>
              <a:t>→ 높은 순서대로 실행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3585"/>
                </a:solidFill>
                <a:latin typeface="맑은 고딕"/>
              </a:defRPr>
            </a:pPr>
            <a:r>
              <a:t>Day 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50800"/>
          </a:xfrm>
          <a:prstGeom prst="rect">
            <a:avLst/>
          </a:prstGeom>
          <a:solidFill>
            <a:srgbClr val="FF3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3교시: GTM 역량을 취업 무기로 만드는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585"/>
                </a:solidFill>
                <a:latin typeface="맑은 고딕"/>
              </a:defRPr>
            </a:pPr>
            <a:r>
              <a:t>면접관이 보고 싶은 것: "경험의 양"이 아닌 "사고의 깊이"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303520" cy="2743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303520" cy="411480"/>
          </a:xfrm>
          <a:prstGeom prst="rect">
            <a:avLst/>
          </a:prstGeom>
          <a:solidFill>
            <a:srgbClr val="FF3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BEFORE (흔한 작성법)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맑은 고딕"/>
              </a:defRPr>
            </a:pPr>
            <a:r>
              <a:t>"마케팅에 관심이 많고, 다양한 마케팅 관련 강의를 수강했습니다. SNS 마케팅과 콘텐츠 기획에 관심이 있습니다."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303520" cy="2743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303520" cy="41148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470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AFTER (GTM 역량 기반)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"[서비스명]의 GTM 전략을 분석하며, 타겟 고객의 행동 데이터를 기반으로 핵심 페인포인트를 도출하고, 가치 제안과 메시징 전략을 수립한 경험이 있습니다. 앱스토어 리뷰 100건을 분석하여 3개의 핵심 불만 패턴을 발견하고, A/B 테스트 가설을 설계했습니다."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실무 경험 없이도 보여줄 수 있는 역량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2606040" cy="11887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394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3585"/>
                </a:solidFill>
                <a:latin typeface="맑은 고딕"/>
              </a:defRPr>
            </a:pPr>
            <a:r>
              <a:t>시장을 보는 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7607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"이 시장의 트렌드는 ○○, 기회는 ○○"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5303520"/>
            <a:ext cx="2606040" cy="11887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5394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3585"/>
                </a:solidFill>
                <a:latin typeface="맑은 고딕"/>
              </a:defRPr>
            </a:pPr>
            <a:r>
              <a:t>고객 이해력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7607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"핵심 타겟은 ○○, 주요 불만은 ○○"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5303520"/>
            <a:ext cx="2606040" cy="11887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5394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3585"/>
                </a:solidFill>
                <a:latin typeface="맑은 고딕"/>
              </a:defRPr>
            </a:pPr>
            <a:r>
              <a:t>논리적 사고력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7607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"가설을 ○○ 데이터로 검증했습니다"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5303520"/>
            <a:ext cx="2606040" cy="11887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5394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3585"/>
                </a:solidFill>
                <a:latin typeface="맑은 고딕"/>
              </a:defRPr>
            </a:pPr>
            <a:r>
              <a:t>실행 의지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57607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맑은 고딕"/>
              </a:defRPr>
            </a:pPr>
            <a:r>
              <a:t>"리뷰 데이터를 수집하고 AI로 분석했습니다"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5일간의 핵심 키워드 &amp; 프레임워크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0972800" cy="731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0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GTM의 뼈대, 가설 검증 사고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GTM 5대 요소 | 가설 검증 사이클 | 프롬프트 3원칙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23160"/>
            <a:ext cx="10972800" cy="731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50800" cy="50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7"/>
                </a:solidFill>
                <a:latin typeface="맑은 고딕"/>
              </a:defRPr>
            </a:pPr>
            <a:r>
              <a:t>Day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타겟 정의, 페인포인트 발굴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514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세분화 4기준 | 페르소나 5요소 | Pain Point 3유형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10972800" cy="731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508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맑은 고딕"/>
              </a:defRPr>
            </a:pPr>
            <a:r>
              <a:t>Day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가치 제안, 포지셔닝, 메시징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VP Canvas | 포지셔닝 공식 | 카피라이팅 4원칙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60520"/>
            <a:ext cx="10972800" cy="731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60520"/>
            <a:ext cx="50800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Day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채널 전략, KPI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251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O/E/P 미디어 | North Star Metric | AARRR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29200"/>
            <a:ext cx="10972800" cy="731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50800" cy="50800"/>
          </a:xfrm>
          <a:prstGeom prst="rect">
            <a:avLst/>
          </a:prstGeom>
          <a:solidFill>
            <a:srgbClr val="FF3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585"/>
                </a:solidFill>
                <a:latin typeface="맑은 고딕"/>
              </a:defRPr>
            </a:pPr>
            <a:r>
              <a:t>Day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데이터 운영, 취업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맑은 고딕"/>
              </a:defRPr>
            </a:pPr>
            <a:r>
              <a:t>So What/Now What | ICE 스코어링 | STAR 기법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0972800" cy="731520"/>
          </a:xfrm>
          <a:prstGeom prst="roundRect">
            <a:avLst/>
          </a:prstGeom>
          <a:solidFill>
            <a:srgbClr val="2A1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B2FF7"/>
                </a:solidFill>
                <a:latin typeface="맑은 고딕"/>
              </a:defRPr>
            </a:pPr>
            <a:r>
              <a:t>"GTM은 전략이 아니라 사고방식입니다. 가설을 세우고, 데이터로 검증하고, 논리적으로 도출하세요."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